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7" r:id="rId2"/>
    <p:sldId id="256" r:id="rId3"/>
    <p:sldId id="394" r:id="rId4"/>
    <p:sldId id="395" r:id="rId5"/>
    <p:sldId id="303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31" r:id="rId17"/>
    <p:sldId id="333" r:id="rId18"/>
    <p:sldId id="334" r:id="rId19"/>
    <p:sldId id="335" r:id="rId20"/>
    <p:sldId id="336" r:id="rId21"/>
    <p:sldId id="337" r:id="rId22"/>
    <p:sldId id="338" r:id="rId23"/>
    <p:sldId id="339" r:id="rId24"/>
    <p:sldId id="266" r:id="rId25"/>
    <p:sldId id="330" r:id="rId26"/>
    <p:sldId id="323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50" r:id="rId35"/>
    <p:sldId id="329" r:id="rId36"/>
    <p:sldId id="324" r:id="rId37"/>
    <p:sldId id="258" r:id="rId38"/>
    <p:sldId id="259" r:id="rId39"/>
    <p:sldId id="260" r:id="rId40"/>
    <p:sldId id="261" r:id="rId41"/>
    <p:sldId id="262" r:id="rId42"/>
    <p:sldId id="264" r:id="rId43"/>
    <p:sldId id="265" r:id="rId44"/>
    <p:sldId id="377" r:id="rId45"/>
    <p:sldId id="328" r:id="rId46"/>
    <p:sldId id="326" r:id="rId47"/>
    <p:sldId id="389" r:id="rId48"/>
    <p:sldId id="390" r:id="rId49"/>
    <p:sldId id="391" r:id="rId50"/>
    <p:sldId id="392" r:id="rId51"/>
    <p:sldId id="393" r:id="rId52"/>
    <p:sldId id="311" r:id="rId53"/>
    <p:sldId id="304" r:id="rId54"/>
    <p:sldId id="387" r:id="rId55"/>
    <p:sldId id="379" r:id="rId56"/>
    <p:sldId id="380" r:id="rId57"/>
    <p:sldId id="381" r:id="rId58"/>
    <p:sldId id="382" r:id="rId59"/>
    <p:sldId id="383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8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333C1-C80A-407E-BABB-1B2FE91E1A8F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C7AA-BC60-4DBE-B714-7459F07D27F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4247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F1BDA08-1A54-F1DC-D258-CBC5FB0BF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D20CCC7-6BA0-88CC-B788-731BB21321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D4104AB-0074-DBCE-9BE7-27290000A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8368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8765D18A-EA9B-3AFE-FA69-959DBDF2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>
            <a:extLst>
              <a:ext uri="{FF2B5EF4-FFF2-40B4-BE49-F238E27FC236}">
                <a16:creationId xmlns:a16="http://schemas.microsoft.com/office/drawing/2014/main" id="{CA0BB4B4-29BF-E961-9B8B-87EBAE8DD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>
            <a:extLst>
              <a:ext uri="{FF2B5EF4-FFF2-40B4-BE49-F238E27FC236}">
                <a16:creationId xmlns:a16="http://schemas.microsoft.com/office/drawing/2014/main" id="{2FB18A20-B9B5-09B6-AA21-1C389F45F6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6074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AD052C5-9901-7522-6320-62F7E3E6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508B831-047E-9631-C7D1-6E0BA9376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562B6A3-0305-2491-3388-8C4A97EC9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41155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7121FA4E-062F-AC10-9F49-17BBFB703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>
            <a:extLst>
              <a:ext uri="{FF2B5EF4-FFF2-40B4-BE49-F238E27FC236}">
                <a16:creationId xmlns:a16="http://schemas.microsoft.com/office/drawing/2014/main" id="{6EA88929-452B-A5A1-F0BD-E4C8C7EE4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>
            <a:extLst>
              <a:ext uri="{FF2B5EF4-FFF2-40B4-BE49-F238E27FC236}">
                <a16:creationId xmlns:a16="http://schemas.microsoft.com/office/drawing/2014/main" id="{151F65F6-9A78-F459-E8EB-C3095B70A6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75847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003E554-1753-B79C-7B53-C1E4655A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68387B8-CF84-226B-DF65-6D9EF4FDB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423617E6-8E82-F119-69C4-694EDAA1BD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40852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21BDDEE0-7F35-0435-8136-6813936A4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>
            <a:extLst>
              <a:ext uri="{FF2B5EF4-FFF2-40B4-BE49-F238E27FC236}">
                <a16:creationId xmlns:a16="http://schemas.microsoft.com/office/drawing/2014/main" id="{1C631AE2-7523-D750-1345-052AB2121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>
            <a:extLst>
              <a:ext uri="{FF2B5EF4-FFF2-40B4-BE49-F238E27FC236}">
                <a16:creationId xmlns:a16="http://schemas.microsoft.com/office/drawing/2014/main" id="{911B4EDD-A51C-0D94-7F0F-AFAEF87AD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41219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60FF190-C71F-AC90-283E-D57533F8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F2517F2-8DB9-FDE5-0C71-68A57E62FF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90E76604-31A9-5724-1D19-976540BC7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33318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397F0176-5F0E-5811-424B-64F39CD2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>
            <a:extLst>
              <a:ext uri="{FF2B5EF4-FFF2-40B4-BE49-F238E27FC236}">
                <a16:creationId xmlns:a16="http://schemas.microsoft.com/office/drawing/2014/main" id="{8F2F137B-0E37-B053-758C-FFB4548E3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>
            <a:extLst>
              <a:ext uri="{FF2B5EF4-FFF2-40B4-BE49-F238E27FC236}">
                <a16:creationId xmlns:a16="http://schemas.microsoft.com/office/drawing/2014/main" id="{51BEEEEC-C6F8-7795-9596-6E012BAC4E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74054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FF3EA38-3462-C708-4FBD-42DC074C9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7CBDAF7-9C3F-E326-8254-816B981AB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B262A4DB-893C-26C6-E731-B7861FD0A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31876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73910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16383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40666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49089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63321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616878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10DDB7EC-4238-F575-6043-3F8AE817F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>
            <a:extLst>
              <a:ext uri="{FF2B5EF4-FFF2-40B4-BE49-F238E27FC236}">
                <a16:creationId xmlns:a16="http://schemas.microsoft.com/office/drawing/2014/main" id="{8C4D92ED-2CEA-7197-D140-B0441EFB6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:notes">
            <a:extLst>
              <a:ext uri="{FF2B5EF4-FFF2-40B4-BE49-F238E27FC236}">
                <a16:creationId xmlns:a16="http://schemas.microsoft.com/office/drawing/2014/main" id="{D588B049-EDF7-831C-5E3C-AF3909B251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363095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024CEE9-CE7D-72AA-242A-CC2692DB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30D77FE-A96A-EF3E-CEAD-0F012F4D65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7958ABA3-B2BC-2820-00C0-37CB37FD7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030154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D9B4-0211-700E-8372-EDF789083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0EF17-C967-CAF5-B5A4-1E049EC7E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EC772-4DA3-653F-B001-4A43FF0C4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F34B8-5F6B-9456-E153-410CC9414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CBE5A-27F6-377A-EBF6-6621C40C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603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E5AE-D700-3C0F-2F47-E2F61191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7F5D2-F10D-F319-8455-112D21835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36B2-B36C-B6AE-4ECD-412B082B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94CB3-2027-5A27-E6BB-8643944BC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3447-A2CC-C98A-1690-6D20E05E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644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C660-2C52-06E1-C632-FEBDA87B8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05CD1-4808-12FF-D507-11E55B436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5CA38-6A93-D86D-EAF4-86D45785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E96AC-6B97-653F-63F8-E29A1FA41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73171-D57F-21E3-1BDA-93260D95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004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6E622-10EB-DBF8-3781-ACD0DB394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537C0-201B-A4CE-2775-47F6462C1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380B5-5A06-BF5B-D063-D6FAA5EDA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0BC7C-0282-164F-5713-BBE28CE6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7F21A-12C5-1F51-A7A1-98F0121A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D45FD-AFD0-D757-DD0F-C12B054D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6161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2DB4-C1A4-F11B-4028-F99C0232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77DFF-59F4-C990-4541-DC16997AD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3493F-AA7F-5EB2-AB5E-872B21C4C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0BE9B-B4C0-C0AA-09C6-EB513ED9F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11387-AD85-D7DA-00A7-78122C7BE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3D8E1-42E6-CB78-2D02-5CEE47BD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835348-7D97-6247-5181-0DDDA71F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64CE0-9FDC-B9A7-5DAB-33E8E02A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89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C353-2211-0E69-D87B-DA13367F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25411-B42F-FFBD-FF3A-D0EE568B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2D517-599C-4DBE-30E6-F651AE03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60D1B-659A-3EA6-3865-99E0D22A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645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FB22D-D153-3DEB-302A-3D2C03A9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8F70AE-7449-801C-1897-A566A217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28841-D911-F3E8-6A5F-9309176B2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068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D009F-16FD-7500-6E85-A961D88C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FDB8-638C-AA90-A0F9-5EF88A84E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49ACA-87EE-9209-6C16-D4DBD4F9D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E2B70-662D-28DE-8DEC-88E563270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4025A-BEB0-B386-A421-7A43A333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23A9B-DAC4-C9BE-5B06-435D0DDA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1568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66D5-7864-21EC-06FD-BB46CEF0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DEFB31-C88D-EC35-8D33-DAE3E42EF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33D4C-79B4-B37B-939F-401031A3B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383B0-5A92-34A6-D835-50DF1CEA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902AE-EE3E-109A-A3FB-5D068A41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38E7B-E7DE-A813-20D3-3C5A1C18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4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CB1DC-3833-24F5-51E5-AB8F9859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1EF4F-D2B6-8819-DE5A-B416184B2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AC991-4978-DF68-9A29-DE7159F0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5CB7-5F8D-1F53-5F90-EF55E583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B8461-E55B-100E-286E-8A5E61F5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760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6B6AD9-677C-C41E-EE9E-61118711A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B8619-6203-81FF-1005-402E74B7A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56542-DDA6-12CB-1F9C-910EC8C8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12E39-3865-9D32-993F-D56A6575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07737-06B1-FE48-F417-B0E966CF2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985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51E89-3A67-8008-38B3-898BD259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AABBF-6BDB-1E1B-15BA-318CC8C1D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733C8-23B0-918C-9E4C-7A68DDA60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D66AC-0C73-4BD2-BC31-081B2B523434}" type="datetimeFigureOut">
              <a:rPr lang="en-ID" smtClean="0"/>
              <a:t>08/05/2026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286E7-EAD1-414B-6C42-E08D693EB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4B51E-084C-08BF-D8F3-DAFCC9131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9D06A-75AD-47A0-87D7-D38560973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228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15.png"/><Relationship Id="rId10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26.png"/><Relationship Id="rId10" Type="http://schemas.openxmlformats.org/officeDocument/2006/relationships/image" Target="../media/image3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34.png"/><Relationship Id="rId10" Type="http://schemas.openxmlformats.org/officeDocument/2006/relationships/image" Target="../media/image3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mailto:arkurniawan@gmail.com" TargetMode="External"/><Relationship Id="rId3" Type="http://schemas.openxmlformats.org/officeDocument/2006/relationships/image" Target="../media/image3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hyperlink" Target="mailto:arkurniawan@gmail.com" TargetMode="External"/><Relationship Id="rId4" Type="http://schemas.openxmlformats.org/officeDocument/2006/relationships/image" Target="../media/image47.png"/><Relationship Id="rId9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hyperlink" Target="mailto:arkurniawan@gmail.com" TargetMode="External"/><Relationship Id="rId4" Type="http://schemas.openxmlformats.org/officeDocument/2006/relationships/image" Target="../media/image55.png"/><Relationship Id="rId9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61.png"/><Relationship Id="rId10" Type="http://schemas.openxmlformats.org/officeDocument/2006/relationships/image" Target="../media/image3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3" Type="http://schemas.openxmlformats.org/officeDocument/2006/relationships/image" Target="../media/image54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hyperlink" Target="mailto:arkurniawan@gmail.com" TargetMode="External"/><Relationship Id="rId4" Type="http://schemas.openxmlformats.org/officeDocument/2006/relationships/image" Target="../media/image67.png"/><Relationship Id="rId9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4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10" Type="http://schemas.openxmlformats.org/officeDocument/2006/relationships/hyperlink" Target="mailto:arkurniawan@gmail.com" TargetMode="External"/><Relationship Id="rId4" Type="http://schemas.openxmlformats.org/officeDocument/2006/relationships/image" Target="../media/image79.png"/><Relationship Id="rId9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4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hyperlink" Target="mailto:arkurniawan@gmail.com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74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89.png"/><Relationship Id="rId10" Type="http://schemas.openxmlformats.org/officeDocument/2006/relationships/image" Target="../media/image3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4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65.png"/><Relationship Id="rId9" Type="http://schemas.openxmlformats.org/officeDocument/2006/relationships/hyperlink" Target="mailto:arkurniawan@gmail.com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9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hyperlink" Target="mailto:arkurniawan@gmail.com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10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99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104.png"/><Relationship Id="rId10" Type="http://schemas.openxmlformats.org/officeDocument/2006/relationships/image" Target="../media/image3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mailto:arkurniawan@gmail.com" TargetMode="External"/><Relationship Id="rId3" Type="http://schemas.openxmlformats.org/officeDocument/2006/relationships/image" Target="../media/image10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jpeg"/><Relationship Id="rId5" Type="http://schemas.openxmlformats.org/officeDocument/2006/relationships/image" Target="../media/image110.png"/><Relationship Id="rId4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11" Type="http://schemas.openxmlformats.org/officeDocument/2006/relationships/hyperlink" Target="mailto:arkurniawan@gmail.com" TargetMode="External"/><Relationship Id="rId5" Type="http://schemas.openxmlformats.org/officeDocument/2006/relationships/image" Target="../media/image115.png"/><Relationship Id="rId10" Type="http://schemas.openxmlformats.org/officeDocument/2006/relationships/image" Target="../media/image3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rkurniawan@gmail.com" TargetMode="External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12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rkurniawan@gmail.com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12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arkurniawan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4416623"/>
            <a:ext cx="18097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95375" y="1974651"/>
            <a:ext cx="11051381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SISTEM MANAJEMEN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ANTI PENYUAPAN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95375" y="3673673"/>
            <a:ext cx="105251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Pelatihan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Intensif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ISO 37001:2025 • 12-12 Mei 2026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095625" y="4535685"/>
            <a:ext cx="2352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IMPLEMENTASI &amp; BUDAYA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0A55C7-8470-3F32-1D57-3196830EAD2C}"/>
              </a:ext>
            </a:extLst>
          </p:cNvPr>
          <p:cNvGrpSpPr/>
          <p:nvPr/>
        </p:nvGrpSpPr>
        <p:grpSpPr>
          <a:xfrm>
            <a:off x="7782507" y="5298873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24E77C1-DA4A-9421-C624-BBD15D562353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9337218D-DCD1-FC96-C6CF-C3C9BFEF875E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11B7B93B-CB48-A9A1-CCF2-58FCD4C89D59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7E5BC73E-2A30-E5FF-6E37-628C1D00796C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38250" y="1707058"/>
            <a:ext cx="10901362" cy="226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HARI KE-2: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EKSEKUSI &amp;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INTEGRASI BUDAYA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1238250" y="4446091"/>
            <a:ext cx="1428750" cy="762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38250" y="4808041"/>
            <a:ext cx="7620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Pengendalian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Operasional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Pelaporan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dan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Internalisasi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Integritas</a:t>
            </a:r>
            <a:endParaRPr sz="1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E30055-8D11-ADAB-31D0-08D826E3EBA8}"/>
              </a:ext>
            </a:extLst>
          </p:cNvPr>
          <p:cNvGrpSpPr/>
          <p:nvPr/>
        </p:nvGrpSpPr>
        <p:grpSpPr>
          <a:xfrm>
            <a:off x="7782507" y="5298873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684CC86-E1D1-56E8-8461-52181237BC1A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ACE1C4D3-E855-EFA8-F12F-47AA6609A9B3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9C48E993-9ADB-DF04-9D42-34F9FEEE226A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9ADE271E-43FC-A4BF-92CF-FA95D3E15897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JADWAL SESI HARI KE-2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" name="Google Shape;96;p14"/>
          <p:cNvGraphicFramePr/>
          <p:nvPr>
            <p:extLst>
              <p:ext uri="{D42A27DB-BD31-4B8C-83A1-F6EECF244321}">
                <p14:modId xmlns:p14="http://schemas.microsoft.com/office/powerpoint/2010/main" val="3573659122"/>
              </p:ext>
            </p:extLst>
          </p:nvPr>
        </p:nvGraphicFramePr>
        <p:xfrm>
          <a:off x="571500" y="1509712"/>
          <a:ext cx="11039475" cy="4762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6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Waktu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Topik &amp; Aktivitas Utama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09.00 - 10.30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SESI 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Pengendalian</a:t>
                      </a: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Operasional</a:t>
                      </a: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&amp; Due Diligence</a:t>
                      </a:r>
                      <a:b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Vetting vendor,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kontrak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anti-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suap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&amp;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kontrol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finansial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SOP Teknis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10.45 - 12.00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SESI 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Whistleblowing System &amp; </a:t>
                      </a:r>
                      <a:r>
                        <a:rPr lang="en-US" sz="1350" b="1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Investigasi</a:t>
                      </a:r>
                      <a:b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Saluran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lapor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aman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&amp;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simulasi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investigasi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internal.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Alur WBS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13.00 - 14.30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SESI 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Membangun</a:t>
                      </a: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Budaya</a:t>
                      </a: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Tanpa</a:t>
                      </a: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Paksaan</a:t>
                      </a:r>
                      <a:b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Integrity branding &amp; strategi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psikologi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kepatuhan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Budaya Etis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14.30 - 16.00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SESI 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Summary &amp; Post-Test Akhir</a:t>
                      </a:r>
                      <a:b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Evaluasi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pemahaman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menyeluruh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(Mei 2026).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Skor Kelulusan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16.15 - 17.00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9731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SESI 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Closing &amp; Action Plan</a:t>
                      </a:r>
                      <a:b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Penyusunan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rencana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aksi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nyata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untuk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30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hari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depan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 Plan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7" name="Google Shape;97;p14"/>
          <p:cNvSpPr/>
          <p:nvPr/>
        </p:nvSpPr>
        <p:spPr>
          <a:xfrm>
            <a:off x="576262" y="2943225"/>
            <a:ext cx="171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2290762" y="2943225"/>
            <a:ext cx="1143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3433762" y="2943225"/>
            <a:ext cx="6185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9619059" y="2943225"/>
            <a:ext cx="19966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76262" y="3771900"/>
            <a:ext cx="171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2290762" y="3771900"/>
            <a:ext cx="1143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433762" y="3771900"/>
            <a:ext cx="6185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9619059" y="3771900"/>
            <a:ext cx="19966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6262" y="4600575"/>
            <a:ext cx="171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2290762" y="4600575"/>
            <a:ext cx="1143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3433762" y="4600575"/>
            <a:ext cx="6185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9619059" y="4600575"/>
            <a:ext cx="19966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76262" y="5429250"/>
            <a:ext cx="171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2290762" y="5429250"/>
            <a:ext cx="1143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3433762" y="5429250"/>
            <a:ext cx="6185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9619059" y="5429250"/>
            <a:ext cx="19966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76262" y="6257925"/>
            <a:ext cx="171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2290762" y="6257925"/>
            <a:ext cx="1143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3433762" y="6257925"/>
            <a:ext cx="61852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9619059" y="6257925"/>
            <a:ext cx="19966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2D33FB-4D69-2618-0D2B-27359754B1A4}"/>
              </a:ext>
            </a:extLst>
          </p:cNvPr>
          <p:cNvGrpSpPr/>
          <p:nvPr/>
        </p:nvGrpSpPr>
        <p:grpSpPr>
          <a:xfrm>
            <a:off x="7782507" y="-1312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F1E079F-6FD4-5111-F626-E4393A1C4B73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493ADDFC-E0A8-88EC-D6F3-01E33BB66D95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636CF2C5-4D6E-B229-0078-125D443820B7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EBA2F36F-AC90-0C58-D6C8-EA7C09257CBB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2712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52712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652712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TUJUAN UTAMA HARI KE-2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3043237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904875" y="3652837"/>
            <a:ext cx="2967089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Eksekusi Operasional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04875" y="3929062"/>
            <a:ext cx="2825799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Memastikan setiap transaksi dan interaksi pihak ketiga terlindungi oleh sistem mitigasi yang kuat.</a:t>
            </a:r>
            <a:endParaRPr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3174" y="30432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4683174" y="3652837"/>
            <a:ext cx="2967089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Sistem Proteksi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683174" y="3929062"/>
            <a:ext cx="2825799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Menciptakan rasa aman bagi karyawan untuk bersuara (speak-up) tanpa takut akan konsekuensi.</a:t>
            </a:r>
            <a:endParaRPr/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30432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8461474" y="3652837"/>
            <a:ext cx="2967089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Internalisasi Nilai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461474" y="3929062"/>
            <a:ext cx="2825799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Mengubah kepatuhan dari sekadar "aturan tertulis" menjadi "kebiasaan organik" seluruh tim.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04F905-D571-2516-2D4B-5DB4E38B0A27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7DA3B9B-6CCA-A351-CB71-EC3BCB401E8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9E3E2FC6-4268-2818-8291-22DCB4997912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F31319A8-9448-3BEA-DA9E-E23E1E8214EA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68FD29B0-EA46-5959-0D32-B98D29A7B9F1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8540A68-68D1-A4B2-4BCB-D4F88DDF5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6FC8A195-356A-7A5F-A515-1E343410DB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FF95B2EB-9F5A-F72E-9D41-226CD75D8B08}"/>
              </a:ext>
            </a:extLst>
          </p:cNvPr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5: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BRIBERY RISK ASSESSMENT</a:t>
            </a:r>
            <a:endParaRPr dirty="0"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11FD78FB-6C73-7EB5-8186-F21E7F5E4366}"/>
              </a:ext>
            </a:extLst>
          </p:cNvPr>
          <p:cNvSpPr txBox="1"/>
          <p:nvPr/>
        </p:nvSpPr>
        <p:spPr>
          <a:xfrm>
            <a:off x="1143000" y="2579191"/>
            <a:ext cx="1047750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950" dirty="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Identifikasi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, Analisa &amp;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Mitigasi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Resiko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Penyuapan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E1A71C-C5C6-B888-656B-0B2F9392CA76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55D40AF-8A55-F0EB-2E7A-93EC0C24A47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06EDFAD9-783E-51B1-44FB-762C55C40899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2E5F6F05-5D13-3787-7C8A-79034A884A68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FA6242C2-59F6-79D0-2CE7-0493D95B8913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351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31218"/>
            <a:ext cx="3492549" cy="3395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31218"/>
            <a:ext cx="3492549" cy="3395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31218"/>
            <a:ext cx="3492549" cy="33956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66775" y="315991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Alokasi Tepat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3693318"/>
            <a:ext cx="2901999" cy="109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BRA memastikan sumber daya kepatuhan difokuskan pada area yang memiliki risiko penyuapan paling nyata, bukan sekadar administrasi umum.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45074" y="315991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Safe Harbor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45074" y="3693318"/>
            <a:ext cx="2901999" cy="1096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Dokumen BRA yang jujur adalah bukti 'Adequate Procedures' di depan hakim untuk membebaskan korporasi dari jeratan pidana UU 1/2026.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423374" y="315991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Berbasis Data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23374" y="3693318"/>
            <a:ext cx="2901999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Mengubah kebijakan dari 'asumsi' menjadi 'fakta' melalui pemetaan titik rawan di setiap unit kerja (Procurement, Licensing, Sales).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217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5217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52174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MENGAPA BRA ADALAH JANTUNG SMAP?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151091-3892-7290-1F94-F8A02B778AC0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07C8AD1-3266-4162-51C2-F3DBDAC2E4EC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4D44D72F-489B-75CA-172A-473106F000BD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CB67677C-4E61-F03B-B8E1-1004BCBA098A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D0327F05-7689-C7D8-66E9-AE37C2258029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571500" y="3800475"/>
            <a:ext cx="11049000" cy="57150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07968" y="4162425"/>
            <a:ext cx="26683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Identifikasi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4695825"/>
            <a:ext cx="254124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Mencari celah: Di mana, siapa, dan bagaimana suap bisa terjadi dalam alur proses bisnis.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343888" y="1966912"/>
            <a:ext cx="26683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Analisis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3407419" y="2500312"/>
            <a:ext cx="254124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Scoring: Menilai Peluang (Likelihood) dan Dampak (Impact) hukum &amp; reputasi.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179808" y="4162425"/>
            <a:ext cx="26683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Evaluasi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243339" y="4695825"/>
            <a:ext cx="254124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Rating: Menentukan tingkat keparahan risiko (Low, Medium, High, Extreme).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015728" y="1966912"/>
            <a:ext cx="266830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Mitigasi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079259" y="2500312"/>
            <a:ext cx="254124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Opsi: Menentukan aksi nyata (Avoid, Reduce, Transfer, atau Accept).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METODOLOGI PELAKSANAAN BRA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1727820" y="37147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563740" y="37147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399659" y="37147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10235579" y="37147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2584F-3A3D-B2E8-5967-A54778707883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04466ED-6341-B421-AA06-F17CDF2D2DB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84854B16-F0A6-2160-66A9-270A481960CE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604F018E-B661-E26C-F326-9475D6AA059B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7BE730D5-B7C5-9DD0-6A34-D9370C7D427F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47925"/>
            <a:ext cx="5286375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47925"/>
            <a:ext cx="5286375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62025" y="2838450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Likelihood (Peluang)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62025" y="3371850"/>
            <a:ext cx="45053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Variabel Penentu:</a:t>
            </a: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Frekuensi interaksi dengan pihak ketiga, lemahnya kontrol internal, dan rekam jejak historis penyimpangan di masa lalu.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62025" y="4367212"/>
            <a:ext cx="45053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Skala: 1 (Sangat Jarang) - 5 (Sangat Sering)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24650" y="2838450"/>
            <a:ext cx="4730591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Impact (Dampak)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24650" y="3371850"/>
            <a:ext cx="45053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Variabel Penentu:</a:t>
            </a: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Besarnya denda pidana (UU 1/2026), kerusakan merek, penghentian izin operasional, hingga pemutusan kontrak investor.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24650" y="4367212"/>
            <a:ext cx="45053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Skala: 1 (Minimal) - 5 (Katastropik)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PARAMETER SCORING RISIKO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43B85A5-C7CF-1062-068D-68733BA2827C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EC2346D-61AB-3F3B-EF3D-7D0CB9756607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5E6B3FA7-1972-B4A9-2FD6-92998003B18E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CA129A20-D6D0-1E67-AC98-52D3B37C2078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4B0BC3AB-CD9B-042E-C852-6436136F5AA4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" name="Google Shape;155;p18"/>
          <p:cNvGraphicFramePr/>
          <p:nvPr/>
        </p:nvGraphicFramePr>
        <p:xfrm>
          <a:off x="571500" y="2388393"/>
          <a:ext cx="11049000" cy="28812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8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Unit Kerja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Skenario Risiko (Kapan &amp; Bagaimana)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Kategori Risiko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Procurement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Vendor memberikan kickback 10% untuk memenangkan tender.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DC262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EXTREME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Legal / Licensing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Uang pelicin untuk mempercepat izin operasional AMDAL.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9731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Sales &amp; Marketing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Biaya hospitality mewah di luar batas wajar PerKPK 1/2026.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ACC1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HR / Recruitment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12121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Suap untuk meluluskan kandidat yang tidak kompeten.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11CAA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6" name="Google Shape;156;p18"/>
          <p:cNvSpPr/>
          <p:nvPr/>
        </p:nvSpPr>
        <p:spPr>
          <a:xfrm>
            <a:off x="571500" y="3555206"/>
            <a:ext cx="228510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2856607" y="3555206"/>
            <a:ext cx="680992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9666535" y="3555206"/>
            <a:ext cx="1953964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71500" y="4121943"/>
            <a:ext cx="228510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2856607" y="4121943"/>
            <a:ext cx="680992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9666535" y="4121943"/>
            <a:ext cx="1953964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71500" y="4688681"/>
            <a:ext cx="228510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2856607" y="4688681"/>
            <a:ext cx="680992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9666535" y="4688681"/>
            <a:ext cx="1953964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71500" y="5255418"/>
            <a:ext cx="2285107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2856607" y="5255418"/>
            <a:ext cx="6809928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9666535" y="5255418"/>
            <a:ext cx="1953964" cy="9525"/>
          </a:xfrm>
          <a:prstGeom prst="rect">
            <a:avLst/>
          </a:prstGeom>
          <a:solidFill>
            <a:srgbClr val="CDD6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PEMETAAN ZONA MERAH (TITIK RAWAN)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606D08-4A7E-F23E-A6D5-3F23FDB79265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85C9024-9C52-315D-3435-AFEC5F6DD5AB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0D96DD69-1D85-6D14-D853-3D0392CDEC2C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46FD6DBE-6E45-E35B-3EAE-24644E3ABF74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C7391DDA-01E6-A645-AE73-CC70F69D5E16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71600"/>
            <a:ext cx="1104900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0" y="4579143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Proporsionalitas sumber daya merupakan kunci efisiensi Sistem Manajemen Anti Penyuapan (Klausul 6.1).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ALOKASI KONTROL BERBASIS RISIKO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0EC77D-4CE0-BF0B-DF41-D9D63060C127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5750A90-CD7A-C3CD-F8BE-AA723D1F587A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9D64FD1F-A33B-F76E-CDC0-C9163372E423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2B65B876-1F52-0D7E-44AE-ED3EEF870EAF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20B005FF-5B1E-2607-C848-2DB6FAE14A02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240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6334125" y="2717006"/>
            <a:ext cx="555069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Siapa yang Bertanggung Jawab?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334125" y="3250406"/>
            <a:ext cx="52863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BRA bukanlah tugas tunggal FKAP. Keberhasilannya bergantung pada kolaborasi antara:</a:t>
            </a:r>
            <a:endParaRPr/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33575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6648450" y="3971925"/>
            <a:ext cx="666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715125" y="3974306"/>
            <a:ext cx="49053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Process Owner:</a:t>
            </a: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Identifikasi realitas lapangan.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648450" y="4243387"/>
            <a:ext cx="666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715125" y="4245768"/>
            <a:ext cx="49053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FKAP:</a:t>
            </a: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Verifikasi objektivitas scoring.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648450" y="4514850"/>
            <a:ext cx="666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715125" y="4517231"/>
            <a:ext cx="49053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Board:</a:t>
            </a: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Persetujuan strategi mitigasi.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KETERLIBATAN LINTAS FUNGSI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50478C-ACF8-68B8-8C88-65ADF152CC67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5C03753-1AFD-278D-B805-14420AFB9086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F0673141-9C20-1BA9-A5A4-40671F21EEDA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29C0F56F-EC41-4CE6-8EF5-A883CC5520D0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DFA92B6A-3D14-B815-616B-FECE04DC5CBE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571500" y="2905125"/>
            <a:ext cx="441960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VIII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71500" y="4238625"/>
            <a:ext cx="4419600" cy="1143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4352925"/>
            <a:ext cx="4419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Denda Kategori Tertinggi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5562600" y="2702718"/>
            <a:ext cx="636079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Dampak Hukum UU 1/2026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562600" y="3236118"/>
            <a:ext cx="60579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Berdasarkan regulasi terbaru, kegagalan korporasi dalam mendeteksi risiko penyuapan (BRA yang tidak akurat) dianggap sebagai </a:t>
            </a:r>
            <a:r>
              <a:rPr lang="en-US" sz="1425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kesalahan sistemik</a:t>
            </a: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562600" y="4231481"/>
            <a:ext cx="60579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Hal ini dapat memicu denda kategori VIII dan pencabutan izin usaha bagi korporasi yang terbukti lalai.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KONSEKUENSI KELALAIAN BRA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571500"/>
            <a:ext cx="95250" cy="4667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FFA2486-02B5-CE30-3FBB-C9F0BD63EF72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746F090-8FB0-45A8-0020-0E2DBE0C48F7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D6148721-61C8-A1C7-554D-8895E0450820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55D211D5-3CFD-2DD8-610A-65A1C9DDE24C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2231BCE0-273E-8897-F291-F64ACBC40AB1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8524" y="1335881"/>
            <a:ext cx="3879353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73628" y="1335881"/>
            <a:ext cx="3546871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71500" y="5326856"/>
            <a:ext cx="3051274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Reduce (Mitigasi):</a:t>
            </a: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Menambah kontrol operasional seperti dual approval atau audit digital.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3908524" y="5326856"/>
            <a:ext cx="3879353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Avoid (Hindari):</a:t>
            </a: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Membatalkan hubungan bisnis dengan vendor yang terdeteksi memiliki profil suap tinggi.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073628" y="5326856"/>
            <a:ext cx="3546871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Transfer:</a:t>
            </a:r>
            <a:r>
              <a:rPr lang="en-US" sz="1425" b="0" i="0" u="none" strike="noStrike" cap="non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Mengalihkan tanggung jawab kepatuhan kepada pihak ketiga melalui klausul kontrak anti-suap.</a:t>
            </a:r>
            <a:endParaRPr/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18049" y="1345406"/>
            <a:ext cx="3860303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3153" y="1345406"/>
            <a:ext cx="3527821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762000" y="535781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ontserrat"/>
                <a:ea typeface="Montserrat"/>
                <a:cs typeface="Montserrat"/>
                <a:sym typeface="Montserrat"/>
              </a:rPr>
              <a:t>STRATEGI PENANGANAN RISIKO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71500" y="535781"/>
            <a:ext cx="95250" cy="46672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340C0E-E943-305E-D148-6151BA5D5D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2" r="10208"/>
          <a:stretch>
            <a:fillRect/>
          </a:stretch>
        </p:blipFill>
        <p:spPr>
          <a:xfrm>
            <a:off x="610478" y="1360424"/>
            <a:ext cx="3012296" cy="3790950"/>
          </a:xfrm>
          <a:prstGeom prst="rect">
            <a:avLst/>
          </a:prstGeom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1335881"/>
            <a:ext cx="3051274" cy="381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293B5B8-DEE4-92E1-F26D-63744783182F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5284ED3-93E3-870C-4878-03F05E5BB781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5" name="Google Shape;90;p13">
              <a:extLst>
                <a:ext uri="{FF2B5EF4-FFF2-40B4-BE49-F238E27FC236}">
                  <a16:creationId xmlns:a16="http://schemas.microsoft.com/office/drawing/2014/main" id="{E5D1B189-C6AA-F6AB-F8F2-528B76383DE3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6" name="Google Shape;91;p13">
                <a:extLst>
                  <a:ext uri="{FF2B5EF4-FFF2-40B4-BE49-F238E27FC236}">
                    <a16:creationId xmlns:a16="http://schemas.microsoft.com/office/drawing/2014/main" id="{3FE1A6DA-07B4-FD63-3FEF-540088D168E2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" name="Google Shape;92;p13">
                <a:extLst>
                  <a:ext uri="{FF2B5EF4-FFF2-40B4-BE49-F238E27FC236}">
                    <a16:creationId xmlns:a16="http://schemas.microsoft.com/office/drawing/2014/main" id="{F8EAFCC1-878B-FE25-255C-241CED2270C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1795C5DC-CFB0-308D-2891-0ECDE15FC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>
            <a:extLst>
              <a:ext uri="{FF2B5EF4-FFF2-40B4-BE49-F238E27FC236}">
                <a16:creationId xmlns:a16="http://schemas.microsoft.com/office/drawing/2014/main" id="{0EA7FF6E-AFB9-8D80-1D75-D371AF413D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19FDA924-589D-0782-228B-6D5A1BAE7CC4}"/>
              </a:ext>
            </a:extLst>
          </p:cNvPr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DC270AC-CC1B-20B7-B77A-EC32C51EF65B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3C38D2-6536-9EE9-EC8A-5AEF1F0ACD7E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8546FC-02AC-B3CE-B6C8-622E626F0F88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2FB743-63A0-A21F-A910-C64416AC93B0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6" name="Google Shape;90;p13">
              <a:extLst>
                <a:ext uri="{FF2B5EF4-FFF2-40B4-BE49-F238E27FC236}">
                  <a16:creationId xmlns:a16="http://schemas.microsoft.com/office/drawing/2014/main" id="{A6DAE8E5-65AD-8892-6670-658C1ADE15B1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7" name="Google Shape;91;p13">
                <a:extLst>
                  <a:ext uri="{FF2B5EF4-FFF2-40B4-BE49-F238E27FC236}">
                    <a16:creationId xmlns:a16="http://schemas.microsoft.com/office/drawing/2014/main" id="{0397EA0D-6B02-69F3-7360-2569A9190125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Google Shape;92;p13">
                <a:extLst>
                  <a:ext uri="{FF2B5EF4-FFF2-40B4-BE49-F238E27FC236}">
                    <a16:creationId xmlns:a16="http://schemas.microsoft.com/office/drawing/2014/main" id="{0A4221D9-2E3E-0157-2AB9-41236F490606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1086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874BD2B-C71B-65C1-109C-0DE7B2B5E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21DF0B47-26C4-0EE6-7117-FFA0BC6013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8C7D9F8C-10F7-6DD4-8F2A-A77DBE98F5B4}"/>
              </a:ext>
            </a:extLst>
          </p:cNvPr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</a:t>
            </a: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PENGENDALIAN OPERASIONAL &amp; DD</a:t>
            </a:r>
            <a:endParaRPr dirty="0"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95049888-0DBE-12E2-0A34-C59BD8E078C2}"/>
              </a:ext>
            </a:extLst>
          </p:cNvPr>
          <p:cNvSpPr txBox="1"/>
          <p:nvPr/>
        </p:nvSpPr>
        <p:spPr>
          <a:xfrm>
            <a:off x="1143000" y="2579191"/>
            <a:ext cx="104775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V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etting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Vendot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,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Kontrak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Anti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Suap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&amp;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Kontrak</a:t>
            </a:r>
            <a:r>
              <a:rPr lang="en-US" sz="1950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Finansial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BCD2510-E096-F9D8-3132-2AFF184D855F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0C6428A-CE33-F99C-9BD6-11E4DC8CA82B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29AF3C83-0AD5-B9DB-57BC-96ACFB4CB3D9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7DB384CE-B29E-9F13-287C-57DC8F18F404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8B0E9D42-7F64-4F10-81B6-1C88F342E173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2635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64618"/>
            <a:ext cx="3486150" cy="2433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664618"/>
            <a:ext cx="3486150" cy="2433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664618"/>
            <a:ext cx="3486150" cy="2433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3055143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23925" y="3664743"/>
            <a:ext cx="294036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Uji Tuntas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23925" y="3940968"/>
            <a:ext cx="280035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Memahami mekanisme vetting vendor dan pihak ketiga berbasis risiko.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3055143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695825" y="3664743"/>
            <a:ext cx="294036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Standardisasi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95825" y="3940968"/>
            <a:ext cx="28003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Menyusun klausul anti-suap yang kuat dalam setiap kontrak bisnis.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3055143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467725" y="3664743"/>
            <a:ext cx="294036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Keamanan Dana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67725" y="3940968"/>
            <a:ext cx="28003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Menerapkan kontrol finansial untuk mencegah aliran dana penyuapan.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AGENDA &amp; TUJUAN SESI 6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81025" y="581025"/>
            <a:ext cx="11430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30CFA69-3E26-F38E-8983-B6EC780FE56A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0933AB1-367D-E1B1-4B74-ABE80F82EA6A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5E293BD0-EA5A-B5B9-1CA1-AD59B266ECBC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E4B303DE-DB47-4275-3B68-86DD4B985461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0119CEEA-2BCD-9D3A-D3ED-89433D92DD7B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7643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985962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469135" y="2750343"/>
            <a:ext cx="661794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Mekanisme Vetting Berjenjang: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897760" y="3164681"/>
            <a:ext cx="618931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Beneficial Ownership: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Siapa pengendali asli perusahaan vendor?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897760" y="3626643"/>
            <a:ext cx="618931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Reputation Check: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Apakah vendor pernah terlibat skandal korupsi?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897760" y="4088606"/>
            <a:ext cx="618931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Political Connection: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Apakah ada afiliasi dengan pejabat publik (PEP)?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897760" y="4550568"/>
            <a:ext cx="618931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Sanction List: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Apakah vendor masuk daftar hitam global/lokal?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69135" y="319325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69135" y="365521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69135" y="411718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69135" y="457914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DUE DILIGENCE (8.2): VETTING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581025"/>
            <a:ext cx="11430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CB4CAF-DEAE-A015-16C2-76749412A59B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706FA1C-D1AB-54B5-EF2A-2D050E9FFB0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E0040092-41A9-80AC-4DAE-1B629C5FCC4D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18AB8979-27B2-F6E1-4DEE-B5FEB480E566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0310FAA9-4FE2-FA72-9A1C-801E74CC05C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983706"/>
            <a:ext cx="5276850" cy="179546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6686550" y="3336131"/>
            <a:ext cx="480060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Tindakan Anda?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686550" y="3612356"/>
            <a:ext cx="45720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Jika ditemukan Red Flag, vetting wajib ditingkatkan menjadi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Enhanced Due Diligence (EDD)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sebelum keputusan bisnis diambil.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009650" y="2726531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Vendor menolak menandatangani Pakta Integritas.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09650" y="3188493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Alamat kantor fiktif atau hanya berupa virtual office.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009650" y="3650456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Meminta pembayaran ke pihak ketiga yang tidak jelas.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09650" y="4112418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Vendor baru berdiri tapi menang proyek raksasa.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09650" y="4574381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Mark-up harga yang tidak masuk akal dibanding pasar.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7551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1706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67903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14099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60295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RED FLAGS DALAM VETTING VENDOR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81025" y="581025"/>
            <a:ext cx="11430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C53FFFF-ED34-9F21-ED0C-41DDB248CDB3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CDE472E-CB41-A8C0-C4F4-E989F6A5E550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093BB921-A08D-625C-E79D-6D48DA601802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E66DBF74-A59D-EC1A-B9C2-21732E0C42B6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9BFCDC21-1273-C8BD-4693-B1E7848F044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85900"/>
            <a:ext cx="1102995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81025" y="4769643"/>
            <a:ext cx="110299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visualisasi perbandingan alokasi sumber daya berdasarkan profil risiko vendor.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INTENSITAS DUE DILIGENCE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81025" y="581025"/>
            <a:ext cx="11430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EF84D7-822F-1B08-FAD6-274D7B7354F1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0C0FDA0-4206-2BCD-D465-6610CFBA4C2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01797B45-4C5F-D6B7-47F6-904AE882E3E0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0E4C3ADC-8312-A224-39FA-4AE91206E71F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5E8473A4-A360-0AA4-9D06-8B713749D82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81025" y="771525"/>
            <a:ext cx="519064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KONTROL FINANSIAL</a:t>
            </a:r>
            <a:endParaRPr/>
          </a:p>
        </p:txBody>
      </p:sp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81025" y="2528887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Klausul 8.3: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Melindungi kas perusahaan agar tidak digunakan untuk suap.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009650" y="3262312"/>
            <a:ext cx="45148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Dual Approval: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Otorisasi ganda transaksi.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009650" y="3724275"/>
            <a:ext cx="45148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Segregation: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Pemisahan tugas keuangan.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09650" y="4186237"/>
            <a:ext cx="45148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Cashless Policy: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Batasi penggunaan tunai.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009650" y="4648200"/>
            <a:ext cx="45148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Audit Trace: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Jejak audit digital mutlak.</a:t>
            </a:r>
            <a:endParaRPr/>
          </a:p>
        </p:txBody>
      </p:sp>
      <p:pic>
        <p:nvPicPr>
          <p:cNvPr id="180" name="Google Shape;1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908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528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2148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676775"/>
            <a:ext cx="200025" cy="247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EE97D0C-2DCE-84CC-B8B9-F1F0D90B9D6E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BCD4A0C-62C2-529D-6EBE-242A0585282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3EAD82A1-E1E4-C046-0CE5-1D8771614408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F4C3D887-E813-7341-9223-18481F46F56D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9786F31B-CE68-7471-E873-A87900B4CEC4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20"/>
          <p:cNvGraphicFramePr/>
          <p:nvPr/>
        </p:nvGraphicFramePr>
        <p:xfrm>
          <a:off x="581025" y="2355056"/>
          <a:ext cx="11029950" cy="3148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0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Area Kontrol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Langkah Mitigasi Strategis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Pengadaan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Sistem lelang terbuka, rotasi panitia, dan evaluasi vendor.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Operasional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Pemisahan fungsi antara pemohon jasa dan penyetuju bayar.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Perizinan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Government interaction log (Catatan interaksi pejabat).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Rekrutmen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Vetting integritas untuk posisi rawan (Zona Merah).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0" name="Google Shape;190;p20"/>
          <p:cNvSpPr/>
          <p:nvPr/>
        </p:nvSpPr>
        <p:spPr>
          <a:xfrm>
            <a:off x="581025" y="3617118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889920" y="3617118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81025" y="4241006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889920" y="4241006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81025" y="4864893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889920" y="4864893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81025" y="5488781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889920" y="5488781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KONTROL NON-FINANSIAL (8.4)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81025" y="581025"/>
            <a:ext cx="11430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ECDA3B-5796-5610-FA79-BDD813938E03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81402CA-E960-18F7-3C55-1A0DBED9C989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8A72FEEF-037C-09F4-D6AD-508B89682B77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6C809508-6B99-6C55-AD06-249F9BC45B9C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679AB19D-4BB8-7AB8-157F-C0C13D2DF257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71687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81025" y="2707481"/>
            <a:ext cx="554069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Proteksi dalam Kontrak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81025" y="2983706"/>
            <a:ext cx="52768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Setiap kontrak dengan pihak ketiga wajib mencantumkan klausul khusus yang memberikan hak korporasi untuk:</a:t>
            </a:r>
            <a:endParaRPr/>
          </a:p>
        </p:txBody>
      </p:sp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81212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1009650" y="3669506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Memutus kontrak sepihak jika terbukti suap.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009650" y="4131468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Melakukan audit kepatuhan terhadap vendor.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009650" y="4593431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Menuntut ganti rugi atas kerusakan reputasi.</a:t>
            </a:r>
            <a:endParaRPr/>
          </a:p>
        </p:txBody>
      </p:sp>
      <p:pic>
        <p:nvPicPr>
          <p:cNvPr id="212" name="Google Shape;21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9808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16004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622006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KLAUSUL ANTI-SUAP (8.5)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81025" y="581025"/>
            <a:ext cx="11430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E3393F-8D5E-FCA3-35C6-99EFA4857EBA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B0226D9-7EEA-D338-6D12-710965E22D2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E19DEDEB-282D-B961-B663-64018DB522CF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EA1AB1BC-D39D-6626-2237-BC1347843DA1}"/>
                  </a:ext>
                </a:extLst>
              </p:cNvPr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0A181435-A59C-0F96-7A4F-1157DB62E92C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0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62375"/>
            <a:ext cx="18002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638675"/>
            <a:ext cx="1102995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581025" y="2105025"/>
            <a:ext cx="11029950" cy="138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1.5M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81025" y="3486150"/>
            <a:ext cx="11029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Batas Wajar 2026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81025" y="4133850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Berdasarkan Peraturan KPK No. 1 Tahun 2026, paradigma bergeser dari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Terima-Lapor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menjadi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Tolak-Lapor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95350" y="4876800"/>
            <a:ext cx="10477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Implikasi Ops: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Admin pengadaan wajib mencatat bukti penolakan suap/hadiah di lokasi (foto/surat) sebagai bukti kepatuhan korporasi.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UPDATE 2026: PERKPK 1/2026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81025" y="581025"/>
            <a:ext cx="11430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0219E5-0A43-AC22-3492-10C0DBFB2EAC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9E9FF5C-262E-F038-00DB-651166DAC4C8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637A8975-F34D-35CC-6636-681BA7442C76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12A63B63-5CBE-F8B8-3385-3334A70B7976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46B5E30C-D42A-60F0-5525-BA9E93CC9B6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/>
          <p:nvPr/>
        </p:nvSpPr>
        <p:spPr>
          <a:xfrm>
            <a:off x="581025" y="3317267"/>
            <a:ext cx="11029950" cy="57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517605" y="2859480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Penolakan</a:t>
            </a:r>
            <a:endParaRPr dirty="0"/>
          </a:p>
        </p:txBody>
      </p:sp>
      <p:sp>
        <p:nvSpPr>
          <p:cNvPr id="237" name="Google Shape;237;p23"/>
          <p:cNvSpPr txBox="1"/>
          <p:nvPr/>
        </p:nvSpPr>
        <p:spPr>
          <a:xfrm>
            <a:off x="581025" y="3853158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Tolak di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tempat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secara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sopan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38" name="Google Shape;238;p23"/>
          <p:cNvSpPr txBox="1"/>
          <p:nvPr/>
        </p:nvSpPr>
        <p:spPr>
          <a:xfrm>
            <a:off x="3348614" y="2859480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Dokumentasi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3412033" y="3853158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Foto barang/surat pernyataan.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179622" y="2859480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Lapor FKAP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243042" y="3853158"/>
            <a:ext cx="25367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Kirim laporan via app/email.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9010631" y="2859480"/>
            <a:ext cx="266361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Safe Harbor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9074050" y="3853158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Perlindungan hukum tercapai.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ALUR PELAPORAN PENOLAKAN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581025" y="581025"/>
            <a:ext cx="114300" cy="5715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1735038" y="32315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4566046" y="32315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7397055" y="32315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10228064" y="32315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7F95A9-A5BF-5BD0-6E61-090C1C37597B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789BAE-9233-2BE8-378B-38612A14BC62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FF609B75-16A4-24BF-A4E6-62B5D4263ACC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1F3EEA5C-093C-3F36-FA4A-DEB24B9F6E26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95BF353D-2C1B-644A-247E-2F8AF2C45ED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4EF8F843-D60A-C6C7-B43E-A45DCEB3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>
            <a:extLst>
              <a:ext uri="{FF2B5EF4-FFF2-40B4-BE49-F238E27FC236}">
                <a16:creationId xmlns:a16="http://schemas.microsoft.com/office/drawing/2014/main" id="{259B452A-FC91-78B4-6D19-06DA20F449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35FE9B99-0AF0-5DA0-B3D9-EAC300D60237}"/>
              </a:ext>
            </a:extLst>
          </p:cNvPr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08F52B-A36D-C795-2187-6467BC70D325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4B551-43E7-E563-63D3-C4618373DB11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2DDE9ED-7CEC-CA92-8C56-1FBD0AE9566D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C0DAA37-BF62-6A59-508D-C53D3094DAB3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6" name="Google Shape;90;p13">
              <a:extLst>
                <a:ext uri="{FF2B5EF4-FFF2-40B4-BE49-F238E27FC236}">
                  <a16:creationId xmlns:a16="http://schemas.microsoft.com/office/drawing/2014/main" id="{5A88A980-5D60-0F66-8273-D24F1DEF4C93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7" name="Google Shape;91;p13">
                <a:extLst>
                  <a:ext uri="{FF2B5EF4-FFF2-40B4-BE49-F238E27FC236}">
                    <a16:creationId xmlns:a16="http://schemas.microsoft.com/office/drawing/2014/main" id="{862BFE0E-9A99-D990-E84A-E90B9A74F7CB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Google Shape;92;p13">
                <a:extLst>
                  <a:ext uri="{FF2B5EF4-FFF2-40B4-BE49-F238E27FC236}">
                    <a16:creationId xmlns:a16="http://schemas.microsoft.com/office/drawing/2014/main" id="{8B42F73D-91DD-756C-476C-5E58D70ECA9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582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6BBD7FA7-9234-ED60-E90C-5C0E368FA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8CDE1040-F3D2-90A1-33AD-869F52EA90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1931B5E9-9642-62AC-8A14-2F9F60D67095}"/>
              </a:ext>
            </a:extLst>
          </p:cNvPr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7: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WISTLEBLOWING &amp;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INVESTIGATION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111EB-D582-4CDA-391B-53A7B2C1827B}"/>
              </a:ext>
            </a:extLst>
          </p:cNvPr>
          <p:cNvSpPr txBox="1"/>
          <p:nvPr/>
        </p:nvSpPr>
        <p:spPr>
          <a:xfrm>
            <a:off x="1142999" y="2986549"/>
            <a:ext cx="10139289" cy="462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Membangun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Saluran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Lapor &amp;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Simulasi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Penanganan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Investigasi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Internal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Berbasis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Regulasi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2026.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5B6F00-F73E-7A30-C9B0-6939B661DBDA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13E9377-8683-49E5-2BDB-D4A6908C5BDC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9DDF84F0-494C-7505-FC46-37791A8F9942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6" name="Google Shape;91;p13">
                <a:extLst>
                  <a:ext uri="{FF2B5EF4-FFF2-40B4-BE49-F238E27FC236}">
                    <a16:creationId xmlns:a16="http://schemas.microsoft.com/office/drawing/2014/main" id="{B3153147-72CB-6E92-DED8-237A443B0A4A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" name="Google Shape;92;p13">
                <a:extLst>
                  <a:ext uri="{FF2B5EF4-FFF2-40B4-BE49-F238E27FC236}">
                    <a16:creationId xmlns:a16="http://schemas.microsoft.com/office/drawing/2014/main" id="{E6E3E7EB-1336-E9F8-57C2-681ECEC72318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4610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2675"/>
            <a:ext cx="35178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352675"/>
            <a:ext cx="35178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2352675"/>
            <a:ext cx="35178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76300" y="3343275"/>
            <a:ext cx="307366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Deteksi Dini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76300" y="3857625"/>
            <a:ext cx="292730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Whistleblower adalah sumber informasi pertama dan tercepat dalam mendeteksi skandal penyuapan yang tersembunyi.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632275" y="3343275"/>
            <a:ext cx="307366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Alat Bukti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632275" y="3857625"/>
            <a:ext cx="2927300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Memenuhi persyaratan Klausul 8.9 ISO 37001 dan menjadi bukti pembelaan hukum korporasi (Safe Harbor).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388250" y="3343275"/>
            <a:ext cx="307366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Efek Jera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388250" y="3857625"/>
            <a:ext cx="29273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Keberadaan saluran lapor yang aktif akan mencegah potensi pelaku (fraudster) untuk melakukan suap.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7336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2275" y="27336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88250" y="27336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MENGAPA WBS SANGAT VITAL?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D5139F-A8FA-D69F-149E-B9A441F85E58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279AD6A-8330-C2D4-CC28-0B14606C5C2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CECEF82C-B595-81A6-E5FC-B362EDA8E9E6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220423C4-6AF5-57E9-28BE-5DD27C1551F6}"/>
                  </a:ext>
                </a:extLst>
              </p:cNvPr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1B25C46A-6F0A-E531-DF4A-B7CD24EC157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0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500187" y="3057525"/>
            <a:ext cx="9620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Aksesibilitas: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Saluran pelaporan wajib tersedia bagi seluruh personel dan pihak eksternal (vendor/mitra).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500187" y="3500437"/>
            <a:ext cx="9620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Kerahasiaan: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Identitas pelapor dan isi laporan harus dijaga ketat agar tidak bocor ke pihak terlapor.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500187" y="3943350"/>
            <a:ext cx="9620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Mandatory Reporting: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Kewajiban melaporkan setiap percobaan penyuapan atau penolakan gratifikasi (PerKPK 1/2026).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500187" y="4386262"/>
            <a:ext cx="9620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Independensi: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Tim penerima laporan harus bebas dari konflik kepentingan dan pengaruh operasional.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562" y="3086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562" y="3529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562" y="39719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562" y="44148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KLAUSUL 8.9: PELAPORAN PENYUAPAN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CF6219-53DC-BC95-5688-4814332D1F99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C56ED70-3638-F54E-6938-5B64F732422D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DB4FDE1B-86CE-3535-5690-14D2533D86EA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78CF7700-DB09-4C1B-98B8-C6304C37B1EF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B18914E4-5706-B018-8F13-C097633D00AC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215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81025" y="2357437"/>
            <a:ext cx="554069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Opsi Saluran (Channels)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81025" y="2871787"/>
            <a:ext cx="52768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Organisasi harus menyediakan berbagai opsi pelaporan yang membuat pelapor merasa nyaman:</a:t>
            </a:r>
            <a:endParaRPr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7167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1009650" y="3605212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Email Khusus (Secure &amp; Encrypted).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009650" y="4048125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Hotline Pihak Ketiga (Independen).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09650" y="4491037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Website/Apps Portal Terintegrasi.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09650" y="4933950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Kotak Saran Fisik di Lokasi Strategis.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337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076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5196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496252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MEMBANGUN SALURAN AMAN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C340DC-335B-6710-D890-2EB972EF6AA3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9518522-5EAE-EA3F-8FB9-067F13807A24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7438740A-6E2E-7357-D086-774BDDD9BC6D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C11D8FD7-83B6-2C3C-986C-901AA683ECF5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711E968D-E132-0C93-143F-39A27F143739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38625"/>
            <a:ext cx="1102995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81025" y="2066339"/>
            <a:ext cx="4852328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0%</a:t>
            </a:r>
            <a:endParaRPr dirty="0"/>
          </a:p>
        </p:txBody>
      </p:sp>
      <p:sp>
        <p:nvSpPr>
          <p:cNvPr id="159" name="Google Shape;159;p18"/>
          <p:cNvSpPr/>
          <p:nvPr/>
        </p:nvSpPr>
        <p:spPr>
          <a:xfrm>
            <a:off x="581025" y="3762375"/>
            <a:ext cx="1971675" cy="952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895350" y="4476750"/>
            <a:ext cx="104775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Update UU 1/2026: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Perusahaan yang terbukti melakukan pembiaran atas tindakan balas dendam ke saksi/pelapor dapat dikenai denda korporasi tambahan.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3124200" y="2447925"/>
            <a:ext cx="84867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Toleransi Terhadap Balas Dendam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3124200" y="3009900"/>
            <a:ext cx="84867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Organisasi menjamin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ZERO Retaliation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Pelapor tidak boleh dipecat, didemosi, atau diintimidasi karena laporannya.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PRINSIP NON-RETALIASI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597C34F-A8C6-61A4-DCE8-23204564B275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0D5F1DE-B275-5FA6-C457-8A70E4F49A1A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87A3C01C-79E6-35C1-67CA-575CF1874BC5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DB36F5BE-6A63-1F20-C350-F4C79EB202BC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5360DFD2-CC0B-A480-C1F5-41F6AD8C38C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/>
          <p:nvPr/>
        </p:nvSpPr>
        <p:spPr>
          <a:xfrm>
            <a:off x="581025" y="3838575"/>
            <a:ext cx="11029950" cy="57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517605" y="4200525"/>
            <a:ext cx="266361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01. Pelaporan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81025" y="4714875"/>
            <a:ext cx="25367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Penerimaan laporan melalui saluran WBS resmi.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3348614" y="2333625"/>
            <a:ext cx="266361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02. Verifikasi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3412033" y="2847975"/>
            <a:ext cx="25367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Penapisan awal (Filtering) untuk menilai validitas laporan.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179622" y="4200525"/>
            <a:ext cx="266361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03. Investigasi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243042" y="4714875"/>
            <a:ext cx="253677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Pengumpulan bukti, wawancara, dan analisis forensik.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010631" y="2333625"/>
            <a:ext cx="266361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04. Tindakan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9074050" y="2847975"/>
            <a:ext cx="25367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Keputusan sanksi atau perbaikan sistem manajemen.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ALUR PENANGANAN LAPORAN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735112" y="37528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566121" y="37528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7397129" y="37528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10228138" y="37528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77CEBA-77B8-3BA4-2835-DE8BE767ADEE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6F44F8D-F5C8-9DB3-5B16-637D7C52F197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29C603FD-6DB7-3FB5-8F86-78DE8B738261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8DDCDFDA-BFC3-31BD-8BD6-A836B33BC6AD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79426B79-6B5F-2E54-C244-97109A4DB6C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20"/>
          <p:cNvGraphicFramePr/>
          <p:nvPr/>
        </p:nvGraphicFramePr>
        <p:xfrm>
          <a:off x="1766887" y="2290762"/>
          <a:ext cx="8658225" cy="31527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59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Tahapan Investigasi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Langkah Teknis (Tenaga Ahli)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Pengumpulan Bukti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Akses ke log transaksi, kontrak, email korporasi, dan rekaman digital.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Wawancara Saksi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Teknik wawancara terstruktur tanpa tekanan, menjaga objektivitas.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Forensik Digital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Pelacakan anomali pada sistem ERP atau Cloud Storage perusahaan.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Laporan Akhir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Penyusunan Executive Summary untuk Badan Pengawas &amp; Manajemen Puncak.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1" name="Google Shape;191;p20"/>
          <p:cNvSpPr/>
          <p:nvPr/>
        </p:nvSpPr>
        <p:spPr>
          <a:xfrm>
            <a:off x="1766887" y="3457575"/>
            <a:ext cx="2597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364235" y="3457575"/>
            <a:ext cx="60608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1766887" y="4024312"/>
            <a:ext cx="2597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364235" y="4024312"/>
            <a:ext cx="60608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766887" y="4591050"/>
            <a:ext cx="2597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364235" y="4591050"/>
            <a:ext cx="60608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766887" y="5429250"/>
            <a:ext cx="2597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364235" y="5429250"/>
            <a:ext cx="60608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TEKNIK INVESTIGASI INTERNAL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046ACA2-3C45-9DE4-3648-D1C7135D1A7B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5386FE4-391C-E263-9A40-D524CA019ED3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D81DCCEC-2F4A-6904-16FB-81BE17075269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076C0FF6-EF9D-1A92-C26F-D48C9C8D71F9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591C17E0-0E61-C1C5-492A-21DF979FD3A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81025" y="771525"/>
            <a:ext cx="519064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DIGITAL WBS &amp; AI</a:t>
            </a:r>
            <a:endParaRPr/>
          </a:p>
        </p:txBody>
      </p:sp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81025" y="2219325"/>
            <a:ext cx="49434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Dunia 2026 menuntut sistem yang lebih cerdas. Implementasi digital kini menyertakan: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009650" y="3248025"/>
            <a:ext cx="45148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 Case Scoring: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Menentukan prioritas investigasi secara otomatis.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009650" y="3962400"/>
            <a:ext cx="45148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End-to-End Encryption: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Menjamin keamanan data tingkat tinggi.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009650" y="4676775"/>
            <a:ext cx="45148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Audit Trail: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Mencatat setiap akses investigasi guna mencegah intervensi.</a:t>
            </a:r>
            <a:endParaRPr/>
          </a:p>
        </p:txBody>
      </p:sp>
      <p:pic>
        <p:nvPicPr>
          <p:cNvPr id="212" name="Google Shape;21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766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9909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705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F93DCAA-20D4-82F1-EEA1-DB8256AC3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609725"/>
            <a:ext cx="6088675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7DB8A90-3050-40D0-68BC-2322C987CBD4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9364EC9-E6DA-589E-1FCB-319F28C88A7A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5B7EDEB8-2009-CAF8-DFC4-9D8FC9F4E64D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DF6FDED4-AC64-84A3-0032-AB957E32A7BC}"/>
                  </a:ext>
                </a:extLst>
              </p:cNvPr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53A4D7C3-CFA8-CFCD-5EE9-8BF1588C00B2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0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97968"/>
            <a:ext cx="5276850" cy="213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97968"/>
            <a:ext cx="5276850" cy="213836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990600" y="3131343"/>
            <a:ext cx="476059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UU No. 1 / 2026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990600" y="3645693"/>
            <a:ext cx="45339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Mempertegas perlindungan hukum bagi pelapor tindak pidana korporasi. Karyawan yang melapor dilindungi dari tuntutan pencemaran nama baik oleh perusahaan.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743700" y="3131343"/>
            <a:ext cx="476059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Lembaga Perlindungan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743700" y="3645693"/>
            <a:ext cx="45339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 WBS internal wajib dapat dihubungkan dengan skema perlindungan saksi resmi dari negara (LPSK) jika risiko fisik terdeteksi.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UPDATE REGULASI 2026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AD1FBF-EFAF-A4A8-AE10-F5A4AEBC92D4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09246F3-22E1-1F77-AB5D-83C9C9985973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6706EC68-32AE-D88D-B62B-78D9B0656C4A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25B40A95-E858-FD1D-DB02-D55E9B982442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991A90F0-95F0-5B7C-10D1-7BC32CFA0F5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74D77B12-5699-4890-EA64-0467A4FD7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>
            <a:extLst>
              <a:ext uri="{FF2B5EF4-FFF2-40B4-BE49-F238E27FC236}">
                <a16:creationId xmlns:a16="http://schemas.microsoft.com/office/drawing/2014/main" id="{82BB891D-73EE-77A5-53EB-3546206DBC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7EA2D346-1817-09B5-11F1-DFC97F8B7F07}"/>
              </a:ext>
            </a:extLst>
          </p:cNvPr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9902BE-1DF7-9169-ED39-2E306DB7B7E8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39D0B1-F629-1360-F6C2-33AB726A1441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8AC9BE9-D587-1A35-7122-5C3A610A4E70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8BB8262-0B69-E15E-AE78-A022425886EF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6" name="Google Shape;90;p13">
              <a:extLst>
                <a:ext uri="{FF2B5EF4-FFF2-40B4-BE49-F238E27FC236}">
                  <a16:creationId xmlns:a16="http://schemas.microsoft.com/office/drawing/2014/main" id="{B683E864-69B5-D071-A3C6-9858F2335EBB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7" name="Google Shape;91;p13">
                <a:extLst>
                  <a:ext uri="{FF2B5EF4-FFF2-40B4-BE49-F238E27FC236}">
                    <a16:creationId xmlns:a16="http://schemas.microsoft.com/office/drawing/2014/main" id="{DA7A4CCF-C367-392A-BE5B-128798ED61A0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Google Shape;92;p13">
                <a:extLst>
                  <a:ext uri="{FF2B5EF4-FFF2-40B4-BE49-F238E27FC236}">
                    <a16:creationId xmlns:a16="http://schemas.microsoft.com/office/drawing/2014/main" id="{45E20DA3-1642-2A9D-9E73-BA1D6438CDF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47123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4E4EED7B-04B0-D84F-CA1C-01A6FE5D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1F7EBA5A-6B1E-A631-7767-D4330B7236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907917E2-7262-F061-566D-FB91EA794271}"/>
              </a:ext>
            </a:extLst>
          </p:cNvPr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8: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LBUDAYA INTEGRITAS</a:t>
            </a:r>
            <a:endParaRPr dirty="0"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0088068-10EB-613D-F435-D5C70FE4F8E6}"/>
              </a:ext>
            </a:extLst>
          </p:cNvPr>
          <p:cNvSpPr txBox="1"/>
          <p:nvPr/>
        </p:nvSpPr>
        <p:spPr>
          <a:xfrm>
            <a:off x="1143000" y="2579191"/>
            <a:ext cx="104775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Strategi Integrity Branding &amp;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Psikologi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Kepatuhan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Berbasis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Klausal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7.3 ISO 37001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5F9782-7514-62CA-0116-E0ABEBD85CE5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46485CF-2938-6600-E02A-A3EE8BF63CF4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C88B76C6-B8BD-13B3-02CD-14D95BFB4C17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4FECEA8F-6863-6F18-9A5F-EEACB32F4822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35A708B3-CEBF-1A0A-4D51-DC268090CF58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63524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47925"/>
            <a:ext cx="527685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47925"/>
            <a:ext cx="52768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71550" y="2838450"/>
            <a:ext cx="47205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Kepatuhan (Compliance)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71550" y="3381375"/>
            <a:ext cx="44958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Motivasi: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Takut akan hukuman atau sanksi.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71550" y="3795712"/>
            <a:ext cx="44958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Sifat: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Reaktif terhadap aturan luar.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71550" y="4210050"/>
            <a:ext cx="44958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Dampak: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Berhenti saat tidak ada pengawasan (The Watchman Effect).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724650" y="2838450"/>
            <a:ext cx="47205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Integritas (Integrity)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724650" y="3381375"/>
            <a:ext cx="44958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Motivasi: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Bangga pada nilai dan karakter diri.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24650" y="3795712"/>
            <a:ext cx="44958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Sifat: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Proaktif dari keyakinan dalam diri.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724650" y="4210050"/>
            <a:ext cx="44958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Dampak: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Melekat selamanya, dengan atau tanpa pengawasan.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KEPATUHAN VS INTEGRITAS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7DBA68E-149B-17F0-5DFA-2D34F588FD68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4EF8DAC-E5F6-91CA-03AD-43B999649E45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E9D158BC-F30F-06B4-5B79-BE1D7E1F6F47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A911B4A0-FAC7-B4FB-39E0-951D17D44061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98E5937A-10E6-D210-4282-E3DA475F4764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9700" y="2057400"/>
            <a:ext cx="3619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19225" y="2066925"/>
            <a:ext cx="36004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6334125" y="2638425"/>
            <a:ext cx="554069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Etika Perilaku (Behavioral Ethics)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334125" y="3251690"/>
            <a:ext cx="52768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Manusia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cenderung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melakukan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penyimpangan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ketika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mereka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melakukan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rasionalisasi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misal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"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semua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orang juga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melakukannya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").</a:t>
            </a:r>
            <a:endParaRPr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6334125" y="3829120"/>
            <a:ext cx="52768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Tenaga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ahli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harus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membangun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lingkungan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 mana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perilaku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etis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menjadi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pilihan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termudah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secara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kognitif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melalui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penguatan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sosial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PSIKOLOGI KEPATUHAN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DF788D-95DC-77AF-ABB8-FA50993656A3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4B6785C-441E-DC8D-427B-2F72F14A0258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C0DE6D8F-5A3F-9984-8462-8ED8DD28DDE5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CEDE3F99-3753-69E0-F158-64D39EB985F5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04FEFE6B-3F30-E41D-E01A-6B65198B093F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215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81025" y="1962150"/>
            <a:ext cx="554069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Internal Marketing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81025" y="2505075"/>
            <a:ext cx="52768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Gunakan teknik branding untuk mempromosikan nilai integritas layaknya sebuah produk premium:</a:t>
            </a:r>
            <a:endParaRPr/>
          </a:p>
        </p:txBody>
      </p:sp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7167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009650" y="3238500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Slogan Kreatif: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"Tolak dengan Bangga".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009650" y="3681412"/>
            <a:ext cx="48482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 Campaign: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Poster testimoni "Integrity Heroes".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09650" y="4124325"/>
            <a:ext cx="48482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Value Alignment: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Menghubungkan integritas dengan kebahagiaan keluarga di rumah.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2670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7099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1529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INTEGRITY BRANDING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2C2282-BEEE-18DF-B74C-36BDC11FE503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F4C7165-182B-C783-133B-8ADFADAA4C24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2D2D2075-DAAE-992D-D9D7-547DC800E159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D506F9A6-7934-2E3B-0727-6B2B6DAD265F}"/>
                  </a:ext>
                </a:extLst>
              </p:cNvPr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E8CA4272-253C-9337-85DC-9D20272C2E7B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0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81025" y="771525"/>
            <a:ext cx="5190648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STRATEGI NUDGING</a:t>
            </a:r>
            <a:endParaRPr/>
          </a:p>
        </p:txBody>
      </p:sp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81025" y="1504950"/>
            <a:ext cx="49434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Nudge (Sentuhan Halus):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Teknik mendorong perilaku etis tanpa melarang atau memaksa secara kasar.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81025" y="2428875"/>
            <a:ext cx="49434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Point of Decision: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Pasang pengingat anti-suap tepat di ruang lobi vendor.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81025" y="3114675"/>
            <a:ext cx="49434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Pre-commitment: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Meminta tanda tangan pakta integritas **sebelum** proses tender dimulai.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81025" y="3800475"/>
            <a:ext cx="49434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Social Proof: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Menampilkan data departemen yang 100% bersih dari gratifikasi.</a:t>
            </a:r>
            <a:endParaRPr/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76500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62300"/>
            <a:ext cx="2286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848100"/>
            <a:ext cx="228600" cy="180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E76BD70-4D12-36A4-3229-303AE54BC420}"/>
              </a:ext>
            </a:extLst>
          </p:cNvPr>
          <p:cNvGrpSpPr/>
          <p:nvPr/>
        </p:nvGrpSpPr>
        <p:grpSpPr>
          <a:xfrm>
            <a:off x="59340" y="5566160"/>
            <a:ext cx="4297099" cy="1458801"/>
            <a:chOff x="7599625" y="-46859"/>
            <a:chExt cx="4297099" cy="145880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88CD42C-CCD5-902B-9744-EFBA34F7B241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9" name="Google Shape;90;p13">
              <a:extLst>
                <a:ext uri="{FF2B5EF4-FFF2-40B4-BE49-F238E27FC236}">
                  <a16:creationId xmlns:a16="http://schemas.microsoft.com/office/drawing/2014/main" id="{ED7ACA84-5E33-4C9E-8B70-BC4C00959E45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10" name="Google Shape;91;p13">
                <a:extLst>
                  <a:ext uri="{FF2B5EF4-FFF2-40B4-BE49-F238E27FC236}">
                    <a16:creationId xmlns:a16="http://schemas.microsoft.com/office/drawing/2014/main" id="{B1D7A35A-CF5F-952F-3938-D0E1C76D3D95}"/>
                  </a:ext>
                </a:extLst>
              </p:cNvPr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" name="Google Shape;92;p13">
                <a:extLst>
                  <a:ext uri="{FF2B5EF4-FFF2-40B4-BE49-F238E27FC236}">
                    <a16:creationId xmlns:a16="http://schemas.microsoft.com/office/drawing/2014/main" id="{3D1C433D-EB75-E029-E0B9-238789CC9F62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9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74093"/>
            <a:ext cx="3517850" cy="3186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274093"/>
            <a:ext cx="3517850" cy="3186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274093"/>
            <a:ext cx="3517850" cy="318611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876300" y="3264693"/>
            <a:ext cx="307366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Kepercayaan (Trust)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76300" y="4207668"/>
            <a:ext cx="29273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Membangun keyakinan bahwa sistem manajemen adil bagi semua, dari staf hingga direksi.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4632275" y="3264693"/>
            <a:ext cx="307366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Kebanggaan (Pride)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4632275" y="3807618"/>
            <a:ext cx="29273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Memastikan setiap karyawan merasa bangga bekerja di perusahaan yang dikenal bersih.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8388250" y="3264693"/>
            <a:ext cx="307366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Keamanan (Safety)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8388250" y="3807618"/>
            <a:ext cx="29273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Menciptakan rasa aman secara psikologis untuk menolak suap dan melaporkan pelanggaran.</a:t>
            </a:r>
            <a:endParaRPr/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65509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2275" y="265509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8250" y="265509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 PILAR BUDAYA ORGANIK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BD32C2-DE3C-1D45-66CB-DE89413FCBB5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2C27C4D-7E34-483B-6D76-D77B4622B4C4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CE2F3AAD-DC23-06EE-F85E-8C5713B29D84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40B937FC-0AD1-5DBA-B0D1-A55608738B96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463E7CB8-7A23-1DB1-7AC8-8D00D898691C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2238375" y="2650331"/>
            <a:ext cx="81438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Dialog Dua Arah: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Ganti ceramah satu arah dengan diskusi kelompok mengenai dilema etika nyata di lapangan.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2238375" y="3364706"/>
            <a:ext cx="81438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Gamifikasi: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Gunakan kuis interaktif atau aplikasi berhadiah untuk menguji pemahaman kebijakan gratifikasi 2026.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2238375" y="4079081"/>
            <a:ext cx="814387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Pesan Keluarga: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Libatkan sisi emosional dengan pengingat bahwa "Keluarga menanti rezeki yang halal di rumah."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2238375" y="4793456"/>
            <a:ext cx="81438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Role Modeling: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Memastikan manajemen puncak terlibat aktif dalam sesi pelatihan bersama staf.</a:t>
            </a:r>
            <a:endParaRPr/>
          </a:p>
        </p:txBody>
      </p:sp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678906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393281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10765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822031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TEKNIK INTERNALISASI (KLAUSUL 7.3)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5828E1-5DA3-7533-1302-560B3798FB75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9092216-9341-BA66-C7B3-C2D4D0FB1C7C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A2F9C31E-09F1-D84F-9BBA-C1AAF852A7CC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0A8A8BCE-5A21-1449-B8EB-7D71C8F2A7C3}"/>
                  </a:ext>
                </a:extLst>
              </p:cNvPr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AD650097-328C-542D-7555-EAC8178B59EE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9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22"/>
          <p:cNvGraphicFramePr/>
          <p:nvPr/>
        </p:nvGraphicFramePr>
        <p:xfrm>
          <a:off x="1362075" y="2426493"/>
          <a:ext cx="9467850" cy="28812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Kategori Reward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Bentuk Apresiasi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Tujuan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Integritas Hero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Sertifikat &amp; Pengakuan dalam Rapat Umum.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Membangun kebanggaan (Pride).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Unit Kerja Terbersih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Gelar "Department of the Year".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Mendorong kompetisi etika yang sehat.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KPI Integritas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Bobot nilai dalam evaluasi kenaikan jabatan.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Menjadikan etika sebagai syarat karier.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Special Recognition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Pelaporan penolakan suap tercepat &amp; terjelas.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Memperkuat sistem Safe Harbor 2026.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0" name="Google Shape;210;p22"/>
          <p:cNvSpPr/>
          <p:nvPr/>
        </p:nvSpPr>
        <p:spPr>
          <a:xfrm>
            <a:off x="1362075" y="3593306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333750" y="3593306"/>
            <a:ext cx="4010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7343775" y="3593306"/>
            <a:ext cx="3486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1362075" y="4160043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3333750" y="4160043"/>
            <a:ext cx="4010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343775" y="4160043"/>
            <a:ext cx="3486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1362075" y="4726781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333750" y="4726781"/>
            <a:ext cx="4010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343775" y="4726781"/>
            <a:ext cx="3486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362075" y="5293518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3333750" y="5293518"/>
            <a:ext cx="4010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7343775" y="5293518"/>
            <a:ext cx="3486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INSENTIF &amp; PENGAKUAN INTEGRITAS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963C71-F458-B13F-E6D2-5F5A3A692522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B87C61C-D5A9-8B61-7197-0BAAA9701236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9B6FAC13-AFD6-7FD3-98E9-AED7C532E850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35E8A29B-5B53-AEC4-3322-44EFA3E229D8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17F023CF-5515-8C6B-733C-835C29120A13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1625" y="1334392"/>
            <a:ext cx="9048750" cy="418906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1945481" y="1905892"/>
            <a:ext cx="8301037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BUDAYA MANDIRI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2143125" y="2808833"/>
            <a:ext cx="79057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Self-Sustaining Integrity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2143125" y="3427958"/>
            <a:ext cx="7905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"Budaya sejati adalah ketika integritas menjadi DNA yang diwariskan dari satu generasi karyawan ke generasi berikutnya secara organik."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524500" y="4494758"/>
            <a:ext cx="1143000" cy="76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779EB5-EB0E-9548-A025-07EB8C751596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D24CEF7-00F1-DEC6-3CE4-6FD138B6643B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A9629877-C6E1-CDF4-90E6-9CB48496F32B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0E31A0A8-E41E-488A-67CD-00F0BEC9A3E2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BCA000BA-9664-9779-871E-A5FFA2090A0C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24E10687-8143-2626-179E-699554D3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>
            <a:extLst>
              <a:ext uri="{FF2B5EF4-FFF2-40B4-BE49-F238E27FC236}">
                <a16:creationId xmlns:a16="http://schemas.microsoft.com/office/drawing/2014/main" id="{5385FA2D-9789-739C-BDEC-DF53345D1B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89B6C48B-28DE-3FDC-12CF-80A09C3FC23D}"/>
              </a:ext>
            </a:extLst>
          </p:cNvPr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0F36A6-882B-A1E4-5F61-F9D97CE83B94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4ACF6E-BA8A-BE57-2FEC-3C7ECE4E5981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38457D-4B45-5475-747A-3D7A9B9821C4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6CE2DBC-58A9-6B34-6FE0-237FDF89FC50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6" name="Google Shape;90;p13">
              <a:extLst>
                <a:ext uri="{FF2B5EF4-FFF2-40B4-BE49-F238E27FC236}">
                  <a16:creationId xmlns:a16="http://schemas.microsoft.com/office/drawing/2014/main" id="{D7F10BDD-AF56-B1A7-D8B7-B74799D7F2AD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7" name="Google Shape;91;p13">
                <a:extLst>
                  <a:ext uri="{FF2B5EF4-FFF2-40B4-BE49-F238E27FC236}">
                    <a16:creationId xmlns:a16="http://schemas.microsoft.com/office/drawing/2014/main" id="{AA61520F-4D7D-E714-03B2-4ED7CCB553A2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Google Shape;92;p13">
                <a:extLst>
                  <a:ext uri="{FF2B5EF4-FFF2-40B4-BE49-F238E27FC236}">
                    <a16:creationId xmlns:a16="http://schemas.microsoft.com/office/drawing/2014/main" id="{5BC070D8-1980-742B-92A9-973AEE3EF4F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06408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B664D13C-929B-5273-01DF-88110506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A0168354-A2C0-E027-A8F6-7144C6D292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7DD09FA4-4FE1-1C70-5D1E-18F9EFDD3102}"/>
              </a:ext>
            </a:extLst>
          </p:cNvPr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9: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CLOSING &amp; ACTION PLAN</a:t>
            </a:r>
            <a:endParaRPr dirty="0"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B65882F9-5939-170B-A445-724AAEDB71E8}"/>
              </a:ext>
            </a:extLst>
          </p:cNvPr>
          <p:cNvSpPr txBox="1"/>
          <p:nvPr/>
        </p:nvSpPr>
        <p:spPr>
          <a:xfrm>
            <a:off x="1143000" y="3085629"/>
            <a:ext cx="104775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Rencana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Implementasi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Sistem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Manajemen</a:t>
            </a:r>
            <a:r>
              <a:rPr lang="en-US" sz="1950" b="0" i="0" u="none" strike="noStrike" cap="none" dirty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 Anti </a:t>
            </a:r>
            <a:r>
              <a:rPr lang="en-US" sz="1950" b="0" i="0" u="none" strike="noStrike" cap="none" dirty="0" err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Penyuapan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73E102-4F27-7CE6-AE38-1F065A54B8B9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4D307D0-915D-CD87-5DA1-9FB3305D6EED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7FFF3EC8-AED1-4788-2CD5-FE09A9325DAD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04047618-498B-C43A-C007-E7D45531FCBE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078712EB-CDCE-3D79-C9FF-36F8DD3C0850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49247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09875"/>
            <a:ext cx="52768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952750"/>
            <a:ext cx="52768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62025" y="3267075"/>
            <a:ext cx="474059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Internalize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543300"/>
            <a:ext cx="45148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Menjadi agen perubahan yang menyebarkan nilai integritas di unit kerja masing-masing tanpa menunggu perintah.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15125" y="3409950"/>
            <a:ext cx="474059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Operationalize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15125" y="3686175"/>
            <a:ext cx="45148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Memastikan setiap kontrol teknis (DD, Kontrak, &amp; Reporting) dijalankan secara disiplin setiap hari.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MISI TENAGA AHLI ABMS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F0A7C2-DD97-EE08-E96C-8E81239364B8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19EDF10-59B3-6B5C-5898-4FAA4271BB4B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8A86CC33-CCEE-539C-C8CB-20400322FC01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074AB7E7-2D1E-45E5-32D9-10EF2FEAC9CB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679409D6-AD3A-D094-4B0E-95A74A69F53B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13624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319587"/>
            <a:ext cx="1102995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862378" y="2312890"/>
            <a:ext cx="1657350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 dirty="0">
                <a:solidFill>
                  <a:srgbClr val="84CC16"/>
                </a:solidFill>
                <a:latin typeface="Lato"/>
                <a:ea typeface="Lato"/>
                <a:cs typeface="Lato"/>
                <a:sym typeface="Lato"/>
              </a:rPr>
              <a:t>30</a:t>
            </a:r>
            <a:endParaRPr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895350" y="4557712"/>
            <a:ext cx="104775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Memperbarui satu prosedur operasional atau satu kanal pelaporan di departemen Anda.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2809875" y="2528887"/>
            <a:ext cx="88011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Hari Rencana Aksi Nyata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2809875" y="3090862"/>
            <a:ext cx="8801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Tanpa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rencana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aksi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90%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pengetahuan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hilang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seminggu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Kita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menyusun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Quick Wins yang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bisa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segera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diterapkan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TARGET: 30 HARI PERTAMA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9FC846-721B-BDF3-FE6F-1F56F97EB279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ACC8D70-9A79-6861-1101-17A3809E1C11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3848EF4D-39AF-5ADA-558C-72CD49543331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559A49CC-91CD-574F-70DC-B5858F9FA83B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12F58A2A-F37E-AAA3-FF73-AE6244F30DFB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717332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068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" name="Google Shape;129;p17"/>
          <p:cNvGraphicFramePr/>
          <p:nvPr/>
        </p:nvGraphicFramePr>
        <p:xfrm>
          <a:off x="1595437" y="1819275"/>
          <a:ext cx="9001100" cy="40957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0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Minggu Ke-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Aktivitas Utama (Implementasi ISO 37001)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Minggu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Sosialisasi Kebijakan Anti-Suap &amp; Parameter 2026 ke tim internal.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Absensi &amp; Foto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Minggu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Gap Analysis: Cek ketersediaan Klausul Anti-Suap di kontrak vendor.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Daftar Kontrak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Minggu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Update Risk Register unit kerja berdasarkan "Zona Merah" terbaru.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Risk Map Rev.1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Minggu 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Uji coba internal sistem pelaporan penolakan gratifikasi (WBS).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Laporan Simulasi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0" name="Google Shape;130;p17"/>
          <p:cNvSpPr/>
          <p:nvPr/>
        </p:nvSpPr>
        <p:spPr>
          <a:xfrm>
            <a:off x="1595437" y="3300412"/>
            <a:ext cx="2700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4295775" y="3300412"/>
            <a:ext cx="4751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9047261" y="3300412"/>
            <a:ext cx="1549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1595437" y="4167187"/>
            <a:ext cx="2700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4295775" y="4167187"/>
            <a:ext cx="4751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9047261" y="4167187"/>
            <a:ext cx="1549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1595437" y="5033962"/>
            <a:ext cx="2700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4295775" y="5033962"/>
            <a:ext cx="4751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9047261" y="5033962"/>
            <a:ext cx="1549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1595437" y="5900737"/>
            <a:ext cx="2700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295775" y="5900737"/>
            <a:ext cx="47514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9047261" y="5900737"/>
            <a:ext cx="1549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TEMPLATE: INDIVIDUAL ACTION PLAN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E2BFBE3-41E2-3565-AACA-9537F0E5244C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D8A1894-F1E1-E814-EB0D-CAAE0EFD49A1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FCEB8913-B885-60F9-31E4-F13C9683EC43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D311F473-C58B-00BD-44D4-DFA13FA02D56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6265157C-03D1-EC7A-722C-2473AE534B0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57629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43162"/>
            <a:ext cx="35178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443162"/>
            <a:ext cx="35178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443162"/>
            <a:ext cx="351785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876300" y="3433762"/>
            <a:ext cx="3073665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Kolaborasi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76300" y="3709987"/>
            <a:ext cx="29273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FKAP tidak bisa bekerja sendiri. Implementasi butuh dukungan penuh dari pemilik proses (Process Owner).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632275" y="3433762"/>
            <a:ext cx="3073665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Dokumentasi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632275" y="3709987"/>
            <a:ext cx="29273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Ingat: "Apa yang tidak didokumentasikan, tidak pernah dilakukan" di mata auditor dan hukum.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388250" y="3433762"/>
            <a:ext cx="3073665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Konsistensi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388250" y="3709987"/>
            <a:ext cx="29273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Integritas bukan aksi sekali jadi, melainkan kebiasaan yang diulang-ulang setiap hari.</a:t>
            </a:r>
            <a:endParaRPr/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8241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2275" y="28241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8250" y="28241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KUNCI KEBERHASILAN IMPLEMENTASI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331C61-ABD6-C2B9-99E4-748BBF360CEE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6A9A616-A5B1-0AC7-AE81-E708BED74A5A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20CA4BCE-F54B-9334-F6E5-0F4F178511ED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E26FA4C5-D57B-6A08-E5A4-B7A0856D19B0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09F86890-34D9-76A2-C2C2-36E11450949F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10022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215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81025" y="2967037"/>
            <a:ext cx="554069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Integritas: Nilai Jual Utama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81025" y="3243262"/>
            <a:ext cx="52768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 tahun 2026, perusahaan yang bersih adalah perusahaan yang paling kompetitif.</a:t>
            </a:r>
            <a:endParaRPr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7167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819150" y="4052887"/>
            <a:ext cx="50387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"Bersama kita bangun organisasi yang tidak hanya sukses secara finansial, tapi juga terhormat secara etika."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KOMITMEN BERSAMA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81025" y="581025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BCA826D-DF28-53C2-AC5F-A5EC6EDAE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096" y="1971675"/>
            <a:ext cx="5496878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1569AB5-AD02-AFF7-83FF-0B5AD2BAA975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4582B7A-82B2-4ADD-9636-B8CDAC12C1C0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AB35683E-2338-190B-4F4B-6942C3DC49CA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E9CA2A72-9261-E68B-3C1B-6F74D542D341}"/>
                  </a:ext>
                </a:extLst>
              </p:cNvPr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FB2F0285-AD75-F49C-5DF2-79B82B3EBF5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86802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/>
          <p:nvPr/>
        </p:nvSpPr>
        <p:spPr>
          <a:xfrm>
            <a:off x="571500" y="3862387"/>
            <a:ext cx="11049000" cy="571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07968" y="4224337"/>
            <a:ext cx="266830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Minggu 1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4500562"/>
            <a:ext cx="254124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Internalisasi Kebijakan 2026 ke unit kerja.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3343888" y="2595562"/>
            <a:ext cx="266830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Minggu 2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3407419" y="2871787"/>
            <a:ext cx="254124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Audit Gap: Vetting &amp; Klausul Kontrak.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179808" y="4224337"/>
            <a:ext cx="266830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Minggu 3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243339" y="4500562"/>
            <a:ext cx="254124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Pembaruan Risk Register (Zona Merah).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015728" y="2595562"/>
            <a:ext cx="2668302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Minggu 4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9079259" y="2871787"/>
            <a:ext cx="254124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Simulasi WBS &amp; Pelaporan Penolakan.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09625" y="571500"/>
            <a:ext cx="1135141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10: RENCANA AKSI NYATA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571500"/>
            <a:ext cx="95250" cy="54292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727820" y="37766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84C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563740" y="37766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84C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7399659" y="37766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84C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10235579" y="37766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 cap="flat" cmpd="sng">
            <a:solidFill>
              <a:srgbClr val="84CC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F3939B-DE8F-E288-3C7A-AB7108FEE5C9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486E3C-6C72-9278-A8F3-219E5FAC4770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1B0C0A40-6264-4BFF-2472-454802346CAE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B8A972AD-CAB8-9358-6AE3-3E64F1888482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ED103A99-6B54-3D98-8751-2A77721F7FCA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93165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CA496F96-D13C-E417-3275-36E86BDC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 descr="image.png">
            <a:extLst>
              <a:ext uri="{FF2B5EF4-FFF2-40B4-BE49-F238E27FC236}">
                <a16:creationId xmlns:a16="http://schemas.microsoft.com/office/drawing/2014/main" id="{A4427934-B039-A7C9-9497-1BC8918E52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0099CFBD-513C-44DD-F908-8A7CEEB457F0}"/>
              </a:ext>
            </a:extLst>
          </p:cNvPr>
          <p:cNvSpPr txBox="1"/>
          <p:nvPr/>
        </p:nvSpPr>
        <p:spPr>
          <a:xfrm>
            <a:off x="-1330849" y="2110216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84CC1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68C88C-0C19-03A2-3C29-03A80945BEEC}"/>
              </a:ext>
            </a:extLst>
          </p:cNvPr>
          <p:cNvSpPr/>
          <p:nvPr/>
        </p:nvSpPr>
        <p:spPr>
          <a:xfrm>
            <a:off x="4077846" y="2153025"/>
            <a:ext cx="1814733" cy="1664457"/>
          </a:xfrm>
          <a:prstGeom prst="roundRect">
            <a:avLst/>
          </a:prstGeom>
          <a:noFill/>
          <a:ln>
            <a:solidFill>
              <a:srgbClr val="84CC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C8758A-1257-B82A-1F10-1502C4A40FC2}"/>
              </a:ext>
            </a:extLst>
          </p:cNvPr>
          <p:cNvSpPr/>
          <p:nvPr/>
        </p:nvSpPr>
        <p:spPr>
          <a:xfrm>
            <a:off x="4384024" y="3023608"/>
            <a:ext cx="4915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0160">
                  <a:solidFill>
                    <a:srgbClr val="84CC16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Question &amp; Answer</a:t>
            </a:r>
            <a:endParaRPr lang="en-US" sz="4000" b="1" cap="none" spc="0" dirty="0">
              <a:ln w="10160">
                <a:solidFill>
                  <a:srgbClr val="84CC16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24700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54A67E10-6B3B-98C8-107A-D8DE67D8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318B143C-42DD-1ABF-D3D7-EEBBEA4909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647D35AF-2CEA-1925-B758-A48AE3657874}"/>
              </a:ext>
            </a:extLst>
          </p:cNvPr>
          <p:cNvSpPr txBox="1"/>
          <p:nvPr/>
        </p:nvSpPr>
        <p:spPr>
          <a:xfrm>
            <a:off x="1143000" y="1047750"/>
            <a:ext cx="110013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SESI 10: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SUMMARY ANTI BRIBERY MANAGEMENT SYSTEM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85836-95B6-654B-EDE3-A1665E593EFF}"/>
              </a:ext>
            </a:extLst>
          </p:cNvPr>
          <p:cNvSpPr txBox="1"/>
          <p:nvPr/>
        </p:nvSpPr>
        <p:spPr>
          <a:xfrm>
            <a:off x="1142999" y="2986549"/>
            <a:ext cx="10139289" cy="462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Operasional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Pelaporan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&amp;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Tranformasi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Budaya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E29640-C2FC-A285-A28A-04931DA9482D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947A24A-F115-3600-5E0C-87C5EB5E5261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1B94A2C8-84A2-FF55-6E42-67E359B2949F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6" name="Google Shape;91;p13">
                <a:extLst>
                  <a:ext uri="{FF2B5EF4-FFF2-40B4-BE49-F238E27FC236}">
                    <a16:creationId xmlns:a16="http://schemas.microsoft.com/office/drawing/2014/main" id="{E70FBDD2-CD40-9132-E47C-6874FF5F3371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" name="Google Shape;92;p13">
                <a:extLst>
                  <a:ext uri="{FF2B5EF4-FFF2-40B4-BE49-F238E27FC236}">
                    <a16:creationId xmlns:a16="http://schemas.microsoft.com/office/drawing/2014/main" id="{965D1E4D-A03C-2B38-A64F-6D986EE9AF06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84409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85780"/>
            <a:ext cx="351785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271712"/>
            <a:ext cx="351785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271712"/>
            <a:ext cx="351785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76300" y="3271837"/>
            <a:ext cx="307366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 6: Operasional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76300" y="3805237"/>
            <a:ext cx="29273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Vetting vendor, verifikasi BO, dan pengetatan kontrol finansial sebagai perisai teknis organisasi.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632275" y="3271837"/>
            <a:ext cx="307366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 7: WBS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632275" y="3805237"/>
            <a:ext cx="29273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Membangun saluran lapor aman dengan jaminan mutlak non-retaliasi sesuai mandat UU 1/2026.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388250" y="3271837"/>
            <a:ext cx="307366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 8: Budaya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388250" y="3805237"/>
            <a:ext cx="29273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Menggeser "Harus Patuh" menjadi "Bangga Berintegritas" melalui strategi Nudging &amp; Branding.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6527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2275" y="26527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8250" y="26527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KEY TAKEAWAYS: SESI 6 - 8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81025" y="581025"/>
            <a:ext cx="114300" cy="4476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2A17F1-4F1E-4001-FCF8-DAB6B1D1503E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37914F5-B5A4-12E7-D5C8-47CBB9C141E9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AE86DDC2-5EEB-5B68-16CB-2C7CB1817FF0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1A56D451-0095-CB1E-03D9-2DFC2258CFFE}"/>
                  </a:ext>
                </a:extLst>
              </p:cNvPr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FA933862-868B-D352-008D-B606F5132F0F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1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3" name="Google Shape;123;p16"/>
          <p:cNvGraphicFramePr/>
          <p:nvPr/>
        </p:nvGraphicFramePr>
        <p:xfrm>
          <a:off x="581025" y="2378868"/>
          <a:ext cx="11029950" cy="28812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0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Kelompok Klausul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Fokus Utama Tenaga Ahli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Klausul 4 - 5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Konteks Organisasi, Leadership, &amp; Mandat FKAP Independen.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Klausul 6 - 7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Bribery Risk Assessment &amp; Penyediaan Sumber Daya (Kompetensi).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Klausul 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Pengendalian Operasional, Due Diligence, &amp; Kontrak Anti-Suap.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Klausul 9 - 10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Audit Internal, Tinjauan Manajemen, &amp; Perbaikan Berkelanjutan.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4" name="Google Shape;124;p16"/>
          <p:cNvSpPr/>
          <p:nvPr/>
        </p:nvSpPr>
        <p:spPr>
          <a:xfrm>
            <a:off x="581025" y="3545681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3889920" y="3545681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81025" y="4112418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889920" y="4112418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81025" y="4679156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889920" y="4679156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81025" y="5245893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3889920" y="5245893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SUMMARY MATRIKS KLAUSUL 4 - 10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81025" y="581025"/>
            <a:ext cx="114300" cy="4476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CC0EDF-2F0D-B9E7-87BC-F77EB0A05205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A7AADB-815D-8B1D-FCC0-84ADF1598DAE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5157D1DC-52FC-45F4-B11A-34D544656D78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74E2B411-0AC3-6605-0E1A-22EC9870FFA9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E27ADC07-3CC1-9D49-5480-B97ED6736EF2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17193"/>
            <a:ext cx="11029950" cy="110966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81025" y="2312193"/>
            <a:ext cx="3238500" cy="1731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1.5M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1025" y="3740943"/>
            <a:ext cx="3238500" cy="9525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895350" y="4636293"/>
            <a:ext cx="1047750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Reminder: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UU No. 1 / 2026 mempertegas denda kategori VIII bagi pembiaran pidana korporasi.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391025" y="2374106"/>
            <a:ext cx="72199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Batas Wajar Baru (PerKPK 1/2026)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391025" y="2936081"/>
            <a:ext cx="72199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Paradigma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MANDATORY REFUSAL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Tolak suap di tempat, dokumentasikan, dan lapor sebagai bukti Safe Harbor bagi korporasi.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PARAMETER KEPATUHAN 2026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81025" y="581025"/>
            <a:ext cx="114300" cy="4476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47ADDB-F8F2-58A6-8406-279628AEE7D2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F59C1E9-70ED-3DCB-CD44-5B2C9FB78990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BF345653-9048-744F-E093-817D58502BA5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4F13BA2F-08B5-DD96-4A38-7E58A630F9A9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50A13F54-25D7-BAD4-88EF-0CA9D610F131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62075"/>
            <a:ext cx="11029950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3448050" y="5641181"/>
            <a:ext cx="52959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Distribusi bobot pemahaman yang diuji dalam Post-Test Final.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71525" y="581025"/>
            <a:ext cx="11381422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FOKUS KOMPETENSI TENAGA AHLI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81025" y="581025"/>
            <a:ext cx="114300" cy="447675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714CE-951A-1914-328D-12F1F23D64CE}"/>
              </a:ext>
            </a:extLst>
          </p:cNvPr>
          <p:cNvGrpSpPr/>
          <p:nvPr/>
        </p:nvGrpSpPr>
        <p:grpSpPr>
          <a:xfrm>
            <a:off x="-39133" y="5678702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1AE3359-9B7F-0467-6889-ADDD2873E85D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DB7680FE-E5B1-6655-069D-D4B681749B3E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6E5C341A-A880-AFB5-841F-08B3500FF3F9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C93FDE8D-928F-2EE1-4848-EE01415BB54D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/>
        </p:nvSpPr>
        <p:spPr>
          <a:xfrm>
            <a:off x="2065496" y="2578893"/>
            <a:ext cx="8061007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POST-TEST AKHIR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381625" y="3893343"/>
            <a:ext cx="1428750" cy="76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2257425" y="4302918"/>
            <a:ext cx="76771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Uji Pemahaman Mandiri &amp; Analisis Kasus.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B28C49-49EA-CADB-DCC5-A4CD7ED3DB5E}"/>
              </a:ext>
            </a:extLst>
          </p:cNvPr>
          <p:cNvGrpSpPr/>
          <p:nvPr/>
        </p:nvGrpSpPr>
        <p:grpSpPr>
          <a:xfrm>
            <a:off x="7641830" y="5566160"/>
            <a:ext cx="4297099" cy="1458801"/>
            <a:chOff x="7599625" y="-46859"/>
            <a:chExt cx="4297099" cy="145880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C0E6215-D65C-C8FC-18E4-51D8182B96C8}"/>
                </a:ext>
              </a:extLst>
            </p:cNvPr>
            <p:cNvSpPr/>
            <p:nvPr/>
          </p:nvSpPr>
          <p:spPr>
            <a:xfrm>
              <a:off x="7721599" y="304800"/>
              <a:ext cx="4175125" cy="738665"/>
            </a:xfrm>
            <a:prstGeom prst="roundRect">
              <a:avLst/>
            </a:prstGeom>
            <a:solidFill>
              <a:schemeClr val="bg1">
                <a:alpha val="34000"/>
              </a:schemeClr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</a:endParaRPr>
            </a:p>
          </p:txBody>
        </p:sp>
        <p:grpSp>
          <p:nvGrpSpPr>
            <p:cNvPr id="4" name="Google Shape;90;p13">
              <a:extLst>
                <a:ext uri="{FF2B5EF4-FFF2-40B4-BE49-F238E27FC236}">
                  <a16:creationId xmlns:a16="http://schemas.microsoft.com/office/drawing/2014/main" id="{027D4CC2-F728-FA09-F646-49C80F56A4D8}"/>
                </a:ext>
              </a:extLst>
            </p:cNvPr>
            <p:cNvGrpSpPr/>
            <p:nvPr/>
          </p:nvGrpSpPr>
          <p:grpSpPr>
            <a:xfrm>
              <a:off x="7599625" y="-46859"/>
              <a:ext cx="4200902" cy="1458801"/>
              <a:chOff x="44824" y="8152"/>
              <a:chExt cx="4200902" cy="1458801"/>
            </a:xfrm>
          </p:grpSpPr>
          <p:pic>
            <p:nvPicPr>
              <p:cNvPr id="5" name="Google Shape;91;p13">
                <a:extLst>
                  <a:ext uri="{FF2B5EF4-FFF2-40B4-BE49-F238E27FC236}">
                    <a16:creationId xmlns:a16="http://schemas.microsoft.com/office/drawing/2014/main" id="{DB086A5E-3CD2-69C8-6109-0C2E620AA68B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4824" y="8152"/>
                <a:ext cx="1458801" cy="1458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Google Shape;92;p13">
                <a:extLst>
                  <a:ext uri="{FF2B5EF4-FFF2-40B4-BE49-F238E27FC236}">
                    <a16:creationId xmlns:a16="http://schemas.microsoft.com/office/drawing/2014/main" id="{B0E95BA8-FAA5-788B-22E1-FEB7FE39F6E7}"/>
                  </a:ext>
                </a:extLst>
              </p:cNvPr>
              <p:cNvSpPr txBox="1"/>
              <p:nvPr/>
            </p:nvSpPr>
            <p:spPr>
              <a:xfrm>
                <a:off x="1229471" y="542179"/>
                <a:ext cx="301625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Rubai Ahmad</a:t>
                </a:r>
                <a:br>
                  <a:rPr lang="en-US" sz="1050" b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</a:b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uFill>
                      <a:noFill/>
                    </a:uFill>
                    <a:latin typeface="Poppins"/>
                    <a:ea typeface="Poppins"/>
                    <a:cs typeface="Poppins"/>
                    <a:sym typeface="Poppins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arkurniawann00@gmail.com</a:t>
                </a:r>
                <a:r>
                  <a:rPr lang="en-US" sz="1050" i="1" dirty="0">
                    <a:solidFill>
                      <a:schemeClr val="bg1">
                        <a:lumMod val="65000"/>
                      </a:schemeClr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| 081999197400</a:t>
                </a:r>
                <a:endParaRPr sz="200" i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3093</Words>
  <Application>Microsoft Office PowerPoint</Application>
  <PresentationFormat>Widescreen</PresentationFormat>
  <Paragraphs>421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Arial</vt:lpstr>
      <vt:lpstr>Calibri</vt:lpstr>
      <vt:lpstr>Calibri Light</vt:lpstr>
      <vt:lpstr>DM Sans</vt:lpstr>
      <vt:lpstr>Inter</vt:lpstr>
      <vt:lpstr>Inter Medium</vt:lpstr>
      <vt:lpstr>Lato</vt:lpstr>
      <vt:lpstr>Montserrat</vt:lpstr>
      <vt:lpstr>Montserrat ExtraBold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Naila Fathiyya</dc:creator>
  <cp:lastModifiedBy>Naila Fathiyya</cp:lastModifiedBy>
  <cp:revision>3</cp:revision>
  <dcterms:created xsi:type="dcterms:W3CDTF">2026-05-08T04:25:04Z</dcterms:created>
  <dcterms:modified xsi:type="dcterms:W3CDTF">2026-05-08T09:44:40Z</dcterms:modified>
</cp:coreProperties>
</file>