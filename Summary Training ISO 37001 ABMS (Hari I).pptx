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6E82B3-7E98-4A5E-828B-155392F4E110}">
  <a:tblStyle styleId="{B06E82B3-7E98-4A5E-828B-155392F4E1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43000" y="1833562"/>
            <a:ext cx="11001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RANGKUMAN HARI KE-1: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ABMS IS0 37001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3852862"/>
            <a:ext cx="10477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Memantapkan Pemahaman Sesi 1 - 4: Filosofi, Sejarah, Regulasi, dan Kepemimpinan.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7912"/>
            <a:ext cx="528637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47912"/>
            <a:ext cx="528637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62025" y="2738437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Akar &amp; Definisi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252787"/>
            <a:ext cx="45053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Penyuapan didefinisikan sebagai "keuntungan tak semestinya" dari nilai apapun (finansial/non-finansial) sebagai bujukan bertindak bertentangan dengan kewajiban.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538662"/>
            <a:ext cx="45053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Target: Membangun Budaya Integritas.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2738437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Evolusi Standar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3252787"/>
            <a:ext cx="45053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Berawal dari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BS 10500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(Inggris) sebagai respon UK Bribery Act, berkembang menjadi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 37001:2016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hingga kini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 37001:2025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yang fokus pada Digital &amp; Budaya.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SESI 1 &amp; 2: FILOSOFI &amp; SEJARAH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1212"/>
            <a:ext cx="349254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81212"/>
            <a:ext cx="349254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81212"/>
            <a:ext cx="3492549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66775" y="3157537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UU No. 1 / 2026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67188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Harmonisasi Tipikor dengan KUHP Nasional Baru. Mempertegas tanggung jawab korporasi dan sanksi denda kategori VII-VIII.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45074" y="3157537"/>
            <a:ext cx="304709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PERMA No. 13 / 2016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5074" y="4043362"/>
            <a:ext cx="29019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Korporasi dianggap bersalah jika tidak melakukan langkah pencegahan. ISO 37001 adalah alat bukti "Safe Harbor" yang kuat.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3374" y="3157537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Daya Saing Global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23374" y="3671887"/>
            <a:ext cx="29019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Kepatuhan terhadap standar UK Bribery Act &amp; FCPA AS guna menjaga reputasi dalam transaksi internasional.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717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717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LANSKAP HUKUM INDONESIA 2026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3138487"/>
            <a:ext cx="33147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1.5M</a:t>
            </a:r>
            <a:endParaRPr sz="120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4457700" y="2586037"/>
            <a:ext cx="71628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Batas Wajar PerKPK No. 1 / 2026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457700" y="3148012"/>
            <a:ext cx="7162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Batas maksimal gratifikasi sosial (adat/agama) diperbarui menjadi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Rp 1.500.000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 peristiwa.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7700" y="4024312"/>
            <a:ext cx="71628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PARAMETER GRATIFIKASI BARU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762000"/>
            <a:ext cx="52006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MANDATORY REFUSAL PROTOCOL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3014662"/>
            <a:ext cx="495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Berdasarkan Peraturan KPK No. 1 Tahun 2026, paradigma bergeser dari "Terima-Lapor" menjadi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"Tolak-Lapor"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729037"/>
            <a:ext cx="4953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 Manajemen ISO 37001 (Klausul 8.7) kini wajib mengintegrasikan mekanisme pelaporan penolakan gratifikasi secara digital guna menjamin perlindungan hukum bagi personel.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438864-B0CC-58D4-A80C-B0006A3EDE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4" r="-977"/>
          <a:stretch>
            <a:fillRect/>
          </a:stretch>
        </p:blipFill>
        <p:spPr bwMode="auto">
          <a:xfrm>
            <a:off x="6084284" y="1409700"/>
            <a:ext cx="5559365" cy="402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18"/>
          <p:cNvGraphicFramePr/>
          <p:nvPr/>
        </p:nvGraphicFramePr>
        <p:xfrm>
          <a:off x="1452562" y="2257425"/>
          <a:ext cx="9286875" cy="3190875"/>
        </p:xfrm>
        <a:graphic>
          <a:graphicData uri="http://schemas.openxmlformats.org/drawingml/2006/table">
            <a:tbl>
              <a:tblPr firstRow="1" bandRow="1">
                <a:noFill/>
                <a:tableStyleId>{B06E82B3-7E98-4A5E-828B-155392F4E110}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Aspek Regulasi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Kaitan dengan ISO 37001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Dampak Bagi Korporasi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UU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4.2 (Harapan Stakeholder)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Mitigasi pidana denda kategori VIII.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PerKPK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8.7 (Hadiah &amp; Hospitality)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Standardisasi penolakan suap di tempat.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UK Bribery 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8.1 (Pengendalian Ops)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Diterimanya ekspor ke pasar Inggris.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 FCPA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8.3 (Kontrol Finansial)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Akurasi pembukuan &amp; transparansi dana.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0" name="Google Shape;150;p18"/>
          <p:cNvSpPr/>
          <p:nvPr/>
        </p:nvSpPr>
        <p:spPr>
          <a:xfrm>
            <a:off x="1452562" y="2881312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652837" y="2881312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919912" y="2881312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1452562" y="3519487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652837" y="3519487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919912" y="3519487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452562" y="4157662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652837" y="4157662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919912" y="4157662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452562" y="4795837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652837" y="4795837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919912" y="4795837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452562" y="5434012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652837" y="5434012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919912" y="5434012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UPDATE KEPATUHAN KORPORASI 2026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3347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13347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13347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7192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97192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971925"/>
            <a:ext cx="3492549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66775" y="220980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Leadership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272415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Komitmen nyata pimpinan puncak (Tone at the Top).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645074" y="220980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Risk Assessment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645074" y="272415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Identifikasi titik rawan korupsi secara berkala.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23374" y="220980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Due Diligence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23374" y="272415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Uji tuntas terhadap rekan bisnis &amp; personel rawan.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66775" y="504825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556260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Pelatihan &amp; sosialisasi kebijakan kepada stakeholder.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645074" y="504825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Monitoring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645074" y="556260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Audit internal &amp; evaluasi efektivitas sistem.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423374" y="504825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423374" y="556260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Tindakan tegas &amp; perbaikan atas pelanggaran.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5240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1524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15240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3624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5074" y="43624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374" y="43624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62000" y="28575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6 PILAR UTAMA ABMS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28575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571500" y="1947862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Mercusuar Integritas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2462212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Pimpinan bertugas menggeser paradigma dari "Takut Aturan" menjadi "Bangga Berintegritas". Kepatuhan dimulai dari keteladanan tertinggi.</a:t>
            </a:r>
            <a:endParaRPr/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957387"/>
            <a:ext cx="30099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1000125" y="3509962"/>
            <a:ext cx="48577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Menetapkan sasaran anti-suap terukur.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000125" y="3986212"/>
            <a:ext cx="48577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Menjamin independensi Fungsi Kepatuhan.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00125" y="4462462"/>
            <a:ext cx="48577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Mendorong transparansi dalam setiap level.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385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4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910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KEPEMIMPINAN (SESI 4)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209770-52E7-417A-31E9-9EFFB237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192" y="476250"/>
            <a:ext cx="6050757" cy="60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3112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138362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6334125" y="266700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Pemandu Integritas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334125" y="3181350"/>
            <a:ext cx="5286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FKAP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bertindak sebagai unit independen yang mengawasi operasional sistem sehari-hari.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334125" y="3895725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Wajib memiliki otoritas penuh, kompetensi tinggi, dan akses langsung ke Dewan Pengawas untuk melaporkan penyimpangan.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334125" y="5215011"/>
            <a:ext cx="52863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Prinsip</a:t>
            </a:r>
            <a:r>
              <a:rPr lang="en-US" sz="1500" b="1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1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Independen</a:t>
            </a:r>
            <a:r>
              <a:rPr lang="en-US" sz="1500" b="1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1500" b="1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Objektif</a:t>
            </a:r>
            <a:r>
              <a:rPr lang="en-US" sz="1500" b="1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FUNGSI KEPATUHAN (FKAP)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Widescreen</PresentationFormat>
  <Paragraphs>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Lato</vt:lpstr>
      <vt:lpstr>Calibri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Naila</dc:creator>
  <cp:lastModifiedBy>Naila Fathiyya</cp:lastModifiedBy>
  <cp:revision>1</cp:revision>
  <dcterms:modified xsi:type="dcterms:W3CDTF">2026-05-08T06:03:53Z</dcterms:modified>
</cp:coreProperties>
</file>