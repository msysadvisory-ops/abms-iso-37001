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7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266" r:id="rId11"/>
    <p:sldId id="320" r:id="rId12"/>
    <p:sldId id="284" r:id="rId13"/>
    <p:sldId id="270" r:id="rId14"/>
    <p:sldId id="271" r:id="rId15"/>
    <p:sldId id="272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69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58" r:id="rId37"/>
    <p:sldId id="259" r:id="rId38"/>
    <p:sldId id="261" r:id="rId39"/>
    <p:sldId id="262" r:id="rId40"/>
    <p:sldId id="263" r:id="rId41"/>
    <p:sldId id="264" r:id="rId42"/>
    <p:sldId id="265" r:id="rId43"/>
    <p:sldId id="267" r:id="rId44"/>
    <p:sldId id="293" r:id="rId45"/>
    <p:sldId id="295" r:id="rId46"/>
    <p:sldId id="296" r:id="rId47"/>
    <p:sldId id="260" r:id="rId48"/>
    <p:sldId id="297" r:id="rId49"/>
    <p:sldId id="298" r:id="rId50"/>
    <p:sldId id="299" r:id="rId51"/>
    <p:sldId id="301" r:id="rId52"/>
    <p:sldId id="302" r:id="rId53"/>
    <p:sldId id="256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333C1-C80A-407E-BABB-1B2FE91E1A8F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7AA-BC60-4DBE-B714-7459F07D27F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424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5B9BC69-D425-D467-CC6D-FD0DABBC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41590554-F4A5-A053-149B-3981EB7B4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0E47D303-3855-3564-CB66-16F1E2F5D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2324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FD8BB0E-27F4-3340-DA8E-7073647C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2229095-8A37-372B-5B00-9F61923BA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B352639-78A8-BA49-8674-FEAF0930F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9131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13A0B45-0296-10BF-333D-198DB9AF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ABF3AD9-C34C-9244-897E-5B6027AAC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BBDCDC4-2DC8-0A12-CBC3-26036280B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3763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7F0970A1-5669-2764-E4EA-7264D8A0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AA7E88E1-DFC0-3FF5-0622-2DD793F5B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C303305B-0A5B-50A4-CB7E-D09B70357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9998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D9B4-0211-700E-8372-EDF789083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0EF17-C967-CAF5-B5A4-1E049EC7E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C772-4DA3-653F-B001-4A43FF0C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34B8-5F6B-9456-E153-410CC941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BE5A-27F6-377A-EBF6-6621C40C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03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E5AE-D700-3C0F-2F47-E2F61191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7F5D2-F10D-F319-8455-112D2183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6B2-B36C-B6AE-4ECD-412B082B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94CB3-2027-5A27-E6BB-8643944B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3447-A2CC-C98A-1690-6D20E05E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644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C660-2C52-06E1-C632-FEBDA87B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05CD1-4808-12FF-D507-11E55B436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CA38-6A93-D86D-EAF4-86D45785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E96AC-6B97-653F-63F8-E29A1FA4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3171-D57F-21E3-1BDA-93260D95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04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E622-10EB-DBF8-3781-ACD0DB394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37C0-201B-A4CE-2775-47F6462C1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380B5-5A06-BF5B-D063-D6FAA5EDA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0BC7C-0282-164F-5713-BBE28CE6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7F21A-12C5-1F51-A7A1-98F0121A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D45FD-AFD0-D757-DD0F-C12B054D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616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2DB4-C1A4-F11B-4028-F99C0232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77DFF-59F4-C990-4541-DC16997AD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3493F-AA7F-5EB2-AB5E-872B21C4C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0BE9B-B4C0-C0AA-09C6-EB513ED9F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11387-AD85-D7DA-00A7-78122C7BE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3D8E1-42E6-CB78-2D02-5CEE47BD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35348-7D97-6247-5181-0DDDA71F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64CE0-9FDC-B9A7-5DAB-33E8E02A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9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C353-2211-0E69-D87B-DA13367F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25411-B42F-FFBD-FF3A-D0EE568B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2D517-599C-4DBE-30E6-F651AE03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60D1B-659A-3EA6-3865-99E0D22A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45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FB22D-D153-3DEB-302A-3D2C03A9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F70AE-7449-801C-1897-A566A217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28841-D911-F3E8-6A5F-9309176B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068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009F-16FD-7500-6E85-A961D88C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FDB8-638C-AA90-A0F9-5EF88A84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49ACA-87EE-9209-6C16-D4DBD4F9D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2B70-662D-28DE-8DEC-88E56327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4025A-BEB0-B386-A421-7A43A333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23A9B-DAC4-C9BE-5B06-435D0DDA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156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66D5-7864-21EC-06FD-BB46CEF0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EFB31-C88D-EC35-8D33-DAE3E42EF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33D4C-79B4-B37B-939F-401031A3B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383B0-5A92-34A6-D835-50DF1CEA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902AE-EE3E-109A-A3FB-5D068A41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38E7B-E7DE-A813-20D3-3C5A1C18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4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B1DC-3833-24F5-51E5-AB8F9859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1EF4F-D2B6-8819-DE5A-B416184B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C991-4978-DF68-9A29-DE7159F0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5CB7-5F8D-1F53-5F90-EF55E583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8461-E55B-100E-286E-8A5E61F5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760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B6AD9-677C-C41E-EE9E-61118711A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B8619-6203-81FF-1005-402E74B7A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56542-DDA6-12CB-1F9C-910EC8C8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12E39-3865-9D32-993F-D56A6575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7737-06B1-FE48-F417-B0E966CF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985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51E89-3A67-8008-38B3-898BD259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AABBF-6BDB-1E1B-15BA-318CC8C1D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33C8-23B0-918C-9E4C-7A68DDA60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286E7-EAD1-414B-6C42-E08D693EB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4B51E-084C-08BF-D8F3-DAFCC9131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228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hyperlink" Target="mailto:arkurniawan@gmail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20.png"/><Relationship Id="rId10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25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37.png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43.png"/><Relationship Id="rId10" Type="http://schemas.openxmlformats.org/officeDocument/2006/relationships/image" Target="../media/image2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49.png"/><Relationship Id="rId10" Type="http://schemas.openxmlformats.org/officeDocument/2006/relationships/image" Target="../media/image2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6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6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4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72.png"/><Relationship Id="rId10" Type="http://schemas.openxmlformats.org/officeDocument/2006/relationships/image" Target="../media/image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64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81.png"/><Relationship Id="rId10" Type="http://schemas.openxmlformats.org/officeDocument/2006/relationships/image" Target="../media/image2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64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86.png"/><Relationship Id="rId9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9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95.png"/><Relationship Id="rId10" Type="http://schemas.openxmlformats.org/officeDocument/2006/relationships/image" Target="../media/image2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0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6.jpeg"/><Relationship Id="rId4" Type="http://schemas.openxmlformats.org/officeDocument/2006/relationships/image" Target="../media/image10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3.png"/><Relationship Id="rId7" Type="http://schemas.openxmlformats.org/officeDocument/2006/relationships/image" Target="../media/image11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hyperlink" Target="mailto:arkurniawan@gmail.com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1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1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1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1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1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120.png"/><Relationship Id="rId10" Type="http://schemas.openxmlformats.org/officeDocument/2006/relationships/image" Target="../media/image2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2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28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132.png"/><Relationship Id="rId10" Type="http://schemas.openxmlformats.org/officeDocument/2006/relationships/image" Target="../media/image2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3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38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2.png"/><Relationship Id="rId3" Type="http://schemas.openxmlformats.org/officeDocument/2006/relationships/image" Target="../media/image12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hyperlink" Target="mailto:arkurniawan@gmail.com" TargetMode="Externa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12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jpeg"/><Relationship Id="rId5" Type="http://schemas.openxmlformats.org/officeDocument/2006/relationships/image" Target="../media/image62.png"/><Relationship Id="rId4" Type="http://schemas.openxmlformats.org/officeDocument/2006/relationships/image" Target="../media/image14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67239" y="2354479"/>
            <a:ext cx="11051381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 MANAJEMEN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ANTI PENYUAPAN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095375" y="1999618"/>
            <a:ext cx="105251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 dirty="0">
                <a:solidFill>
                  <a:srgbClr val="FFC000"/>
                </a:solidFill>
                <a:latin typeface="Lato"/>
                <a:ea typeface="Lato"/>
                <a:cs typeface="Lato"/>
                <a:sym typeface="Lato"/>
              </a:rPr>
              <a:t>Training ISO 37001 • 09-10 Mei 2026</a:t>
            </a:r>
            <a:endParaRPr b="1" i="1" dirty="0">
              <a:solidFill>
                <a:srgbClr val="FFC000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83943" y="4451277"/>
            <a:ext cx="235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IMPLEMENTASI &amp; BUDAYA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0E26E0-6CCC-0FCF-BF90-F389428C405B}"/>
              </a:ext>
            </a:extLst>
          </p:cNvPr>
          <p:cNvGrpSpPr/>
          <p:nvPr/>
        </p:nvGrpSpPr>
        <p:grpSpPr>
          <a:xfrm>
            <a:off x="7782507" y="5298873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B1E8E2-77C9-1DC3-DE70-1D51FDF4EF8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61DE096-CE4D-85A2-F862-B2190B05852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EBE4522-D685-F611-1854-B9F6897235D4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C4856C2-B523-2A33-C7C1-4CC102F80C4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  <p:sp>
        <p:nvSpPr>
          <p:cNvPr id="89" name="Google Shape;89;p13"/>
          <p:cNvSpPr txBox="1"/>
          <p:nvPr/>
        </p:nvSpPr>
        <p:spPr>
          <a:xfrm>
            <a:off x="181853" y="6386512"/>
            <a:ext cx="10458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Integrasi Global ISO 37001 &amp; </a:t>
            </a:r>
            <a:r>
              <a:rPr lang="en-US" sz="1600" b="0" i="1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Regulasi</a:t>
            </a:r>
            <a:r>
              <a:rPr lang="en-US" sz="1600" b="0" i="1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Baru Indonesia (UU 1/2026)</a:t>
            </a:r>
            <a:endParaRPr sz="16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81025" y="3867150"/>
            <a:ext cx="11029950" cy="57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17605" y="422910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1-3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4511743"/>
            <a:ext cx="2536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Fondasi, Sejarah, &amp; Regulasi Global/Lokal.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348614" y="3345720"/>
            <a:ext cx="2663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4-5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412033" y="2876550"/>
            <a:ext cx="2536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Leadership &amp; Bribery Risk Assessment.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179622" y="422910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6-8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243042" y="4511743"/>
            <a:ext cx="2536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Due Diligence, WBS, &amp; Budaya Integritas.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10631" y="3345720"/>
            <a:ext cx="2663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9-10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74050" y="2876550"/>
            <a:ext cx="2536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Summary, Post-Test, &amp; Action Plan.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ROADMAP PELATIHAN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735112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566121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397129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0228138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C2A17E-2247-066C-428F-0F33508252C5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77824C4-51B8-4729-5916-63B6F7FCBD4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8F06BCA7-53EE-B402-BFFB-385CBE19E60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3ABF8462-8E10-D700-3C60-220CB01383A5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4EB3D92-7A3D-5CF2-D962-B818A43C742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24112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24112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24112"/>
            <a:ext cx="34861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76300" y="34242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Evolusi Global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76300" y="3871912"/>
            <a:ext cx="2895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Evolusi dari BS 10500 Inggris menjadi ISO 37001 (2016) hingga update 2025 untuk menjawab tantangan korupsi lintas batas.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8200" y="34242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Definisi Teknis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48200" y="3871912"/>
            <a:ext cx="2895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Memahami batasan antara Suap, Gratifikasi, &amp; Hospitality sesuai standar internasional ISO 37001:2025.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0100" y="34242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Maksud &amp; Tujuan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20100" y="3871912"/>
            <a:ext cx="2895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Proteksi aset &amp; moral.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Eksternal: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Kepercayaan investor &amp; kepatuhan global.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8051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FONDASI: SEJARAH &amp; DEFINISI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FD7AAD-98D5-04EA-63FD-028DBC7780C5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0D3FE44-43BA-8142-CE7C-76CAC750205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064A059C-E1FE-F160-19BA-BE4EF74CC81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CF951DC-217B-EAE1-6FEC-044A65276BA8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8D7A83C-BA82-A975-CD52-028A9530491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43187"/>
            <a:ext cx="527685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43187"/>
            <a:ext cx="527685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033712"/>
            <a:ext cx="2076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033712"/>
            <a:ext cx="1238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71550" y="3367087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UK Bribery Act (UKBA)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71550" y="3814762"/>
            <a:ext cx="4495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Doktrin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"Failure to Prevent"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Korporasi otomatis bersalah jika gagal mencegah suap, kecuali memiliki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Adequate Procedures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(ISO 37001).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24650" y="3367087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 FCPA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24650" y="3814762"/>
            <a:ext cx="4495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Fokus pada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 Accounting Controls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Mengharuskan transparansi penuh pada setiap sen transaksi finansial korporasi.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SKALA GLOBAL: UKBA &amp; FCPA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6A859F-7F20-C996-525F-0C04787302F5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FC8013-69DA-0D87-7A67-CB7120F1951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270FF1B-DB74-55E4-2926-08226111A19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517322A-B44D-216C-17CD-7E4BD084351D}"/>
                  </a:ext>
                </a:extLst>
              </p:cNvPr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C68DF9FA-BF1F-C231-371D-65757680276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863872"/>
            <a:ext cx="49434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150" y="2681288"/>
            <a:ext cx="49434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81025" y="1197247"/>
            <a:ext cx="5190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UU NO. 1 TAHUN 2026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2771775"/>
            <a:ext cx="49434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Harmonisasi Pidana Tipikor dengan KUHP Nasional Baru. Memperketat jeratan pidana denda bagi korporasi yang membiarkan suap.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05275" y="3043238"/>
            <a:ext cx="4515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PerKPK No. 1/2026: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Mewajibkan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Mandatory Refusal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(Tolak &amp; Lapor). Batas wajar gratifikasi sosial diperbarui menjadi Rp1.500.000.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335DE9-F08B-0355-527B-1C3F31CDB7CC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4D87C26-A6EA-107C-5E26-DB44F85CC6D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D41B14F-F240-C85B-A240-298B50F45FD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80C88E8-8C49-E74A-B919-27B90B23E87F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110AB9D-FE3F-2178-9160-5C89C776A489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208597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334125" y="2586037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Budaya Dari Puncak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3033712"/>
            <a:ext cx="52770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mustahil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berjalan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tanpa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komitmen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nyata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dari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Direksi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Dewan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Pengawas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Kepemimpinan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harus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menjadi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teladan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integritas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6425809" y="4032411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Pembentukan FKAP yang Independen.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425809" y="4432461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Penyusunan Kebijakan Anti-Suap.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425809" y="4832511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Penyediaan Sumber Daya (Klausul 7).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386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4386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83870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TONE AT THE TOP (KLAUSUL 5)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682C5B-E5F4-F53D-C574-EFF17AB4A1C7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A223B54-46DD-5963-2410-B7C599154F4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B7A780F-5AA5-2689-587E-090F99DC8F1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7030D2B-5D51-0690-8162-495AFB908B6E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80BFF97B-A9E1-671D-FD37-46EC0BDA490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81025" y="5019675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*Setiap unit kerja wajib memiliki Bribery Risk Register yang diperbarui secara berkala.</a:t>
            </a:r>
            <a:endParaRPr/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581025" y="2343150"/>
          <a:ext cx="11029925" cy="2438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5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Titik Rawan (Zona Merah)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Potensi Risiko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Mitigasi ISO 37001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Pengadaan (Procurement)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Suap untuk memenangkan vendor tertentu.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Due Diligence (8.2) &amp; Otorisasi Ganda.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Perizinan (Licensing)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Uang pelicin untuk percepatan izin.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Kontrol Non-Finansial (8.4) &amp; Pakta Integritas.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Sales &amp; Marketing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Kickback atau hadiah mewah ke klien.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Kebijakan Hadiah (8.7) &amp; Batas PerKPK 2026.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581025" y="2938462"/>
            <a:ext cx="2653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234779" y="2938462"/>
            <a:ext cx="4104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338863" y="2938462"/>
            <a:ext cx="4272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81025" y="3548062"/>
            <a:ext cx="2653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234779" y="3548062"/>
            <a:ext cx="4104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338863" y="3548062"/>
            <a:ext cx="4272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81025" y="4157662"/>
            <a:ext cx="2653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234779" y="4157662"/>
            <a:ext cx="4104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338863" y="4157662"/>
            <a:ext cx="4272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1025" y="4767262"/>
            <a:ext cx="26537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234779" y="4767262"/>
            <a:ext cx="4104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338863" y="4767262"/>
            <a:ext cx="4272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BRIBERY RISK ASSESSMENT (6.1)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3CDE8F-722D-528B-FDF1-A4D06AC62B33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C58AB5B-E809-514D-A763-BA9FF4871ED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FB450E3-A0EC-2BEB-7BAE-449F38F4130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CFC0B6B9-3358-B4C0-4AD2-34565657572B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614334F-375D-5D6B-A096-D144B82AFD9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62112"/>
            <a:ext cx="367278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9555" y="1662112"/>
            <a:ext cx="3276451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1756" y="1662112"/>
            <a:ext cx="3509218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81025" y="4995862"/>
            <a:ext cx="385641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Due Diligence (8.2)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5443537"/>
            <a:ext cx="367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Verifikasi latar belakang rekan bisnis &amp; personel pada posisi sensitif.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539555" y="4995862"/>
            <a:ext cx="344027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Kontrol Finansial (8.3)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539555" y="5443537"/>
            <a:ext cx="3276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Pemisahan tugas &amp; audit transaksi keuangan secara berkala.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101756" y="4995862"/>
            <a:ext cx="368467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Non-Finansial (8.4)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101756" y="5443537"/>
            <a:ext cx="3509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Penyisipan klausul Anti-Suap dalam seluruh kontrak pihak ketiga.</a:t>
            </a:r>
            <a:endParaRPr/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1671637"/>
            <a:ext cx="365373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080" y="1671637"/>
            <a:ext cx="3257401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11281" y="1671637"/>
            <a:ext cx="3490168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771525" y="581025"/>
            <a:ext cx="1138142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PENGENDALIAN OPERASIONAL</a:t>
            </a:r>
            <a:endParaRPr dirty="0"/>
          </a:p>
        </p:txBody>
      </p:sp>
      <p:sp>
        <p:nvSpPr>
          <p:cNvPr id="220" name="Google Shape;220;p21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D599A2-C9D9-95FD-2D4F-48F01C71B840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D234784-6D12-2FEF-362E-49873A82DD4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26F6766-80D0-839E-8185-659E00000F8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7223E02-052A-185B-3C05-780D89EA3315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A853E0A-E685-1645-60A5-3BC9131D3AD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28850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81025" y="2690812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Saluran Pelaporan Aman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81025" y="3138487"/>
            <a:ext cx="5277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Membangun kepercayaan agar karyawan berani melapor tanpa takut akan pembalasan (Klausul 8.9).</a:t>
            </a:r>
            <a:endParaRPr/>
          </a:p>
        </p:txBody>
      </p:sp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38375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672709" y="3945973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Anonimitas &amp; Kerahasiaan Mutlak.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72709" y="4346023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Jaminan Non-Retaliasi (Anti Balas Dendam).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2709" y="4746073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Alur Investigasi yang Independen.</a:t>
            </a:r>
            <a:endParaRPr/>
          </a:p>
        </p:txBody>
      </p:sp>
      <p:pic>
        <p:nvPicPr>
          <p:cNvPr id="233" name="Google Shape;23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338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33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339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WHISTLEBLOWING &amp; INVESTIGASI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6B5F4D-BCA9-4AF6-45CD-18143241DDB5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40E2CA4-7210-9EA4-7EB4-3078B98E18C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1557804-620F-55C5-45F7-71AA9A6D737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27E5471-A50C-EE23-240F-BBF61365939E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545B7B8-CE62-E247-6A40-1B7FC3E5D82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581025" y="3043237"/>
            <a:ext cx="441186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81025" y="4486758"/>
            <a:ext cx="441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Budaya Organik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564385" y="3128962"/>
            <a:ext cx="63489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"Integrity is a Character, Not a Rule"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564385" y="3576637"/>
            <a:ext cx="6046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Strategi menggeser paradigma dari "Kepatuhan Administratif" menjadi "Karakter Organisasi" melalui:</a:t>
            </a:r>
            <a:endParaRPr/>
          </a:p>
        </p:txBody>
      </p:sp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4385" y="4281487"/>
            <a:ext cx="1009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6910" y="4281487"/>
            <a:ext cx="16954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55235" y="4281487"/>
            <a:ext cx="18288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INTEGRITAS TANPA PAKSAAN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81025" y="581025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29EC80-0658-142F-B8E5-00106B5ED486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49CECCF-0B09-7B13-B8AC-F4023C9C4E9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EE8D996-28F1-12DA-FB77-2E6ED4C8645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F428CCFC-84BA-85B1-53BE-CB89CF9554E5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73D27B9-6222-39EA-5887-993515AD4C6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A97A87-230D-CFAE-9834-65CF3C2EEF49}"/>
              </a:ext>
            </a:extLst>
          </p:cNvPr>
          <p:cNvSpPr/>
          <p:nvPr/>
        </p:nvSpPr>
        <p:spPr>
          <a:xfrm>
            <a:off x="5050302" y="2391508"/>
            <a:ext cx="2053883" cy="203981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1" name="Google Shape;261;p24"/>
          <p:cNvSpPr txBox="1"/>
          <p:nvPr/>
        </p:nvSpPr>
        <p:spPr>
          <a:xfrm>
            <a:off x="581025" y="1496086"/>
            <a:ext cx="110299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PRE-TEST</a:t>
            </a:r>
            <a:endParaRPr sz="2000" b="1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478A77-183A-7F98-5375-3ADF9BFA1C22}"/>
              </a:ext>
            </a:extLst>
          </p:cNvPr>
          <p:cNvGrpSpPr/>
          <p:nvPr/>
        </p:nvGrpSpPr>
        <p:grpSpPr>
          <a:xfrm>
            <a:off x="59346" y="560835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99AC8F5-B594-248B-7015-B2A6A780BB5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FCC73A3-D5F4-D9BA-CCEC-DB2546918B2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4C01AE8-CA73-942F-0EC7-346118057C77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C56A7EF-7402-9B87-DB01-42652419421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1: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FILOSOFI &amp; KONSEP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2579191"/>
            <a:ext cx="10477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Memahami Akar Masalah &amp; Membangun Paradigma Integritas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CB9146-8E73-A6E9-1177-6468D5BFBACC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941FB51-A065-5128-3796-6A183C87E50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B87DD7C-28CD-7703-0742-1BDF6787C27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C29F20B-DBC9-405B-DB26-B282EFF886B0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A83EF99-1538-E6AD-1EF3-DE0A0FCC164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940480" y="2809875"/>
            <a:ext cx="831103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Apa itu Penyuapan?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381625" y="4829175"/>
            <a:ext cx="142875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BD5FB9-B7B1-A7FF-0DF2-74506FC3EDDE}"/>
              </a:ext>
            </a:extLst>
          </p:cNvPr>
          <p:cNvGrpSpPr/>
          <p:nvPr/>
        </p:nvGrpSpPr>
        <p:grpSpPr>
          <a:xfrm>
            <a:off x="3956094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5D40E0B-DCCB-BD3F-6B7C-1E72BF7D7AA8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8BB0FE2-6A36-9FFF-2A58-93811BE5C12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2CFB112-7C35-D4E2-F545-00D4903F9BA4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B8C9F7B-BA66-44BF-9B89-D2ACAD72832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900"/>
            <a:ext cx="110490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190625" y="2724150"/>
            <a:ext cx="9953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"Penawaran, janji, pemberian, penerimaan, atau permintaan keuntungan yang tidak semestinya dari nilai apapun (berupa keuangan atau non-keuangan)..."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90625" y="4381500"/>
            <a:ext cx="99536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...sebagai bujukan atau hadiah bagi orang yang bertindak atau menahan diri dari bertindak terkait dengan kinerja tugas orang tersebut.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DEFINISI BERDASARKAN STANDAR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990EEF-D7DC-EFEC-D738-0A3C0130E1E3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11F5C4B-9041-0669-9509-199625AA3706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EB5585A-FF29-EDE3-5C55-92F1C8C771B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AAEFF667-43AC-08A4-E1C2-6B8479D2F22B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125CA60-ACEB-8CD6-0F7B-5311FD346D8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000125" y="2609850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Keuangan (Financial):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Uang tunai, komisi, kickback, pinjaman tanpa bunga, atau diskon khusus.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00125" y="3371850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Non-Keuangan: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Tiket perjalanan, beasiswa, janji promosi, layanan gratis, atau keuntungan politik.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00125" y="4133850"/>
            <a:ext cx="48101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Indirect (Tidak Langsung):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Melalui pihak ketiga, donasi atas nama kerabat, atau bantuan kepada organisasi terkait.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384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4004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16242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SPEKTRUM PENYUAPAN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A7A9D5-BD98-9D8A-5B2C-1C83DEE5F01A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3824EBE-ECD6-9B24-10EB-3F51EADE3AA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3766C808-F9F6-2BE1-1D2B-3F542B982DD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F34B873-1D8C-A78D-5856-1D57FDCA74F2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5F4E7C9-E9E7-74D0-6243-48085216F5D4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975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66975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66975"/>
            <a:ext cx="349254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14400" y="3562350"/>
            <a:ext cx="29470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Hadiah (Gifts)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14400" y="3838575"/>
            <a:ext cx="28067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Pemberian tanda terima kasih yang seringkali tumpang tindih dengan suap jika diberikan di saat pengambilan keputusan.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92699" y="3562350"/>
            <a:ext cx="29470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Hospitality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92699" y="3838575"/>
            <a:ext cx="28067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Jamuan makan atau hiburan mewah yang melebihi batas kewajaran bisnis normal (reasonable).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70999" y="3562350"/>
            <a:ext cx="29470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Pelicin (Facilitation)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70999" y="3838575"/>
            <a:ext cx="28067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Pembayaran kecil untuk mempercepat proses administratif yang seharusnya rutin terjadi.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0512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905125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90512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MENGELOLA "GREY AREA"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1EB310-922F-B3D8-A304-6E57044DC24C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F3283D5-A28A-529D-241E-08B4716A353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9856F6D-1482-806C-2FCF-DF0EE35EAE9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D651D5D-54AE-897C-7799-E3E62CE3A411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2015DBEC-3C04-8396-3D3B-8166DCFF180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7621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6381750" y="2138362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Efek Gunung Es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810375" y="2605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Biaya Langsung: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Denda hukum, denda administratif, dan penyitaan aset.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810375" y="3367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Kehilangan SDM: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Krisis kepercayaan karyawan dan hengkangnya talenta terbaik.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810375" y="4129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Reputasi: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Hancurnya brand image dan hilangnya kepercayaan investor/mitra.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810375" y="4891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Blacklisting: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Larangan mengikuti tender di masa depan.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633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3956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157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9196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BIAYA "TERSEMBUNYI" PENYUAPAN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8B9487-6D58-0F19-11EA-1A1787C7A06E}"/>
              </a:ext>
            </a:extLst>
          </p:cNvPr>
          <p:cNvGrpSpPr/>
          <p:nvPr/>
        </p:nvGrpSpPr>
        <p:grpSpPr>
          <a:xfrm>
            <a:off x="7782509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BC8D3C3-6D85-B0F2-997B-600CB02F5A7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A8E8F09-49D9-77EF-6D0A-5F10A20C34D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288B4CE-1C1B-C733-D770-5BE2A684C512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00672C9-FAF4-D0DB-7054-CF18B0A86A4E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2115502" y="2809875"/>
            <a:ext cx="796099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Prinsip Dasar SMAP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2852737" y="4143375"/>
            <a:ext cx="64865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Membangun sistem pertahanan yang proporsional.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381625" y="4829175"/>
            <a:ext cx="142875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FCF199-7ABB-5155-E8F9-E0CEEE5ADCD2}"/>
              </a:ext>
            </a:extLst>
          </p:cNvPr>
          <p:cNvGrpSpPr/>
          <p:nvPr/>
        </p:nvGrpSpPr>
        <p:grpSpPr>
          <a:xfrm>
            <a:off x="3956097" y="109742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4302819-1F01-CFFD-2282-40DD4BD235A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B09C4218-8AF7-3C68-1E2A-CD460A5761B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D3647C3-99DE-8585-0634-F06D3EF58B11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35B71466-763E-CB41-999A-442ED41AEA0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2962"/>
            <a:ext cx="110490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2638425"/>
            <a:ext cx="36576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28675" y="4910137"/>
            <a:ext cx="10534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Filosofi: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Semakin tinggi risiko di suatu departemen (misal: Procurement), semakin ketat kontrol yang diterapkan.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800600" y="2338387"/>
            <a:ext cx="6819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Pendekatan Berbasis Risiko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800600" y="2900362"/>
            <a:ext cx="68199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37001 tidak mengharuskan sistem yang sama untuk semua perusahaan. Pengendalian harus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proporsional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terhadap ukuran, kompleksitas, dan tingkat risiko penyuapan yang dihadapi organisasi.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PROPORTIONALITY &amp; RISK-BASED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4027A5-4C3B-32EA-A4C0-50BE4BB788D7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8DF2BEA-28EA-CF27-26E6-F4C2641C27F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C318545-DB38-26C2-B8E1-476DE193BDE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6C9197D-C812-B5AC-03E1-111BA70D8141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27A68D2E-0DFC-12AB-D2EE-876CD9C7827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3200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43200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43200"/>
            <a:ext cx="3556099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0975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990975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990975"/>
            <a:ext cx="3556099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52634" y="3000375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Leadership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28675" y="3314700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Komitmen nyata dari pimpinan tertinggi.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499085" y="3000375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575125" y="3314700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Identifikasi titik rawan secara berkala.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245532" y="3000375"/>
            <a:ext cx="319383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Due Diligence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321575" y="3314700"/>
            <a:ext cx="30417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Uji tuntas terhadap rekan bisnis.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52634" y="4248150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28675" y="4562475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Pelatihan dan sosialisasi kebijakan.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499085" y="4248150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Monitoring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575125" y="4562475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 internal dan peninjauan sistem.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245532" y="4248150"/>
            <a:ext cx="319383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Action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321575" y="4562475"/>
            <a:ext cx="30417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Tindakan tegas atas pelanggaran.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 PILAR KEPATUHAN ANTI SUAP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773DCD-D004-3EAF-C446-FDACD5C5028E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3810B00-B3DA-A0A4-3417-D558E9529158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A4E0090-B9DE-03DF-C6E8-918ACE6990D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B9180F84-693A-9ED5-6AAF-84F6211830C2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23F0FD8-842E-1CAD-0C61-D770A528218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5987"/>
            <a:ext cx="52387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85987"/>
            <a:ext cx="523875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952500" y="2566987"/>
            <a:ext cx="47005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Internal Goal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62750" y="2566987"/>
            <a:ext cx="47005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Goal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038225" y="308133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143000" y="308133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Menanamkan nilai kejujuran sebagai standar kerja harian.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38225" y="379571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143000" y="3795712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Membangun sistem yang melindungi karyawan dari paksaan suap.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038225" y="451008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143000" y="451008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Menghilangkan inefisiensi biaya operasional (hidden costs).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848475" y="308133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953250" y="308133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Meningkatkan "Bankability" dan kepercayaan investor.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848475" y="379571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953250" y="3795712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Memasuki pasar global yang mensyaratkan standar etika tinggi.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848475" y="451008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953250" y="451008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Membangun reputasi korporasi sebagai mitra bisnis yang bersih.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MENGAPA KITA MELAKUKAN INI?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6DE424-3F22-DC65-F5A5-FB41A4E14512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84DA933-66FE-F110-11E3-2B3AF7D6DE8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770BE0F3-5C03-E767-8722-B2A7E6BC86B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B1FFBCCE-9E61-4722-08CE-B38AD5AA75DF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C549D788-B70B-FBE5-D6FB-A29BB7F3BB99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2043112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Integrity as a Brand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2319337"/>
            <a:ext cx="5238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Tujuan akhir kita bukan sekadar sertifikat di dinding, melainkan transformasi di mana setiap individu menjadi garda terdepan integritas.</a:t>
            </a:r>
            <a:endParaRPr/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000125" y="3462337"/>
            <a:ext cx="48101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Tanpa Paksaan: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Karena integritas adalah kebanggaan.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000125" y="422433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Melekat: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Menjadi bagian dari cara kita bekerja setiap hari.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000125" y="498633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Saling Menjaga: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Budaya di mana kita merasa aman untuk melapor.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909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529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149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MEMBANGUN BUDAYA ORGANIK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20CB29-5D5D-3B57-FD37-DB24C54691D6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288BDF1-1DDD-E2B6-DDEC-6C80E53EEB92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0EA6127-438E-E48B-B3EC-84E7E71DB04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30470B8-192D-C106-4F69-EA8CAD827B29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1DD809BD-3824-3504-30DD-DAD892B417C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1F56A1-7F9C-D2A6-2538-B2EB76F7E278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8D747-4D35-0FBA-A2FC-7301991FDADF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057663-ACFF-6A4B-4952-79C575A3BD9F}"/>
              </a:ext>
            </a:extLst>
          </p:cNvPr>
          <p:cNvGrpSpPr/>
          <p:nvPr/>
        </p:nvGrpSpPr>
        <p:grpSpPr>
          <a:xfrm>
            <a:off x="3956094" y="5314791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EA849-1184-B606-184F-E077792A666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131B4E78-B2A7-AAB4-BF8C-1B624F167E8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902BBF67-883B-A0A8-E46C-CA6288BFBC66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24354559-FCCA-C5E6-9E87-20692B3EA8B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2: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SEJARAH &amp; EVOLUSI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71136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Dimulai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Dari Norma Adat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Hingga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Konsesus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Global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DFF711-5743-D3B8-270A-03128813DFCA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B0BB2DE-E4FD-C904-16E5-B0E1DA52629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326D4847-A378-A211-5955-81161B7ADAE4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703B87B-E636-67A4-2836-99D304D743A7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DFEBCBE-20F4-7854-8193-C04797B06CFE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52612"/>
            <a:ext cx="52292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14775"/>
            <a:ext cx="5229225" cy="138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81025" y="2405062"/>
            <a:ext cx="52292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Korupsi sebagai Penghambat Ekonomi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2862262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Selama dekade 2000-an, skandal korupsi korporasi besar (seperti Enron dan Siemens) menunjukkan bahwa penyuapan bukan hanya masalah etika, tapi ancaman stabilitas pasar.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862137"/>
            <a:ext cx="5210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42975" y="4200525"/>
            <a:ext cx="45815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Dampak Global: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Penyuapan menambah biaya bisnis hingga 10% dan bertindak sebagai "pajak regresif" terhadap inovasi.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KONTEKS KRISIS &amp; RESPON DUNIA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036B4A-9C7A-07DF-275B-2780DD2A8B56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CF7F0BA-55D0-DCD9-F25D-DCD929C4799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5B5D8A0-9D32-0A73-2267-B8D49A96B55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A27D509B-E350-54CA-8AF0-EBE3CA137684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F756C78-1167-8144-90E3-39CB3D933DF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52612"/>
            <a:ext cx="52292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40781"/>
            <a:ext cx="1590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862137"/>
            <a:ext cx="5210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381750" y="2859881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2011: British Standard 10500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81750" y="3078956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Setelah pengundangan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UK Bribery Act 2010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organisasi di Inggris membutuhkan panduan teknis untuk membuktikan kepatuhan.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81750" y="4036218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BS 10500 lahir sebagai standar manajemen anti-penyuapan pertama yang memperkenalkan konsep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Adequate Procedures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untuk membebaskan korporasi dari pidana otomatis.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PONDASI: BS 10500 (INGGRIS)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2D399A-9C1A-C138-DBC7-C13BE9A338B8}"/>
              </a:ext>
            </a:extLst>
          </p:cNvPr>
          <p:cNvGrpSpPr/>
          <p:nvPr/>
        </p:nvGrpSpPr>
        <p:grpSpPr>
          <a:xfrm>
            <a:off x="7782510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8049F18-C648-5EEE-1ED1-7C0BC8E99B2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C9742EB-1290-A8BD-6CAD-9801509029E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5B83AD36-359F-9334-8075-C0D0A85DAF6B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FD7AB973-9B28-D231-CF85-CD189CE16F2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923925" y="3562350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ISO/PC 278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23925" y="3781425"/>
            <a:ext cx="28003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Pada 2013, Komite Teknis ISO dibentuk dengan keterlibatan ahli kepatuhan dari 37 negara untuk mengglobalkan BS 10500.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95825" y="3562350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OECD Convergence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95825" y="3781425"/>
            <a:ext cx="28003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Menyelaraskan standar dengan konvensi OECD guna memastikan audit integritas yang sama di lintas benua.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67725" y="3562350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HLS Adoption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67725" y="3781425"/>
            <a:ext cx="28003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Mengadopsi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Level Structure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agar sistem anti-suap bisa diintegrasikan dengan ISO 9001 atau ISO 14001.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8098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8098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EVOLUSI MENUJU STANDAR GLOBAL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E2EAD3-014F-445A-6E39-9AD5FB6EDC4E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4EF522D-6FA7-7B2D-104B-C7C525682C8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7A61617-8C31-1A41-9684-FDA7E16E2571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5693CADC-E868-BB3B-5A37-E9EC76DABE1E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C18F7E33-76F6-DF15-3A29-4B1D2FD1863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637" y="19478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4937" y="2062162"/>
            <a:ext cx="35814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381750" y="278606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BSN &amp; Komite Teknis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81750" y="3005137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Indonesia melalui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Badan Standardisasi Nasional (BSN)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berperan aktif sebagai anggota P-Member (Participating Member) dalam perumusan ISO 37001 di tingkat dunia.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81750" y="3962400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Hal ini memastikan bahwa karakteristik penyuapan di pasar berkembang (seperti Indonesia) dipertimbangkan dalam standar internasional tersebut.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PERAN STRATEGIS INDONESIA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5928B0-A806-69F6-04AB-9908F8C13D4F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FA97E9C-5B23-CE5D-C44B-852FE875C09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B744C80-E9FB-2E60-E842-1106420C78C8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610DF2E-C4E6-9EAD-A7C7-DE21C61C6C2D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8AEE421A-DF24-3B00-4AB8-2AF0B9AB0DD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43387"/>
            <a:ext cx="110299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81025" y="2128837"/>
            <a:ext cx="18478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37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62025" y="4821336"/>
            <a:ext cx="10267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Indonesia: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Menjadi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salah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satu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negara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tercepat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mengadopsi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standar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melalui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SK BSN No. 273/KEP/BSN/12/2016.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095625" y="2014537"/>
            <a:ext cx="851535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Negara Partisipan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3095625" y="2595562"/>
            <a:ext cx="85153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Pada Oktober 2016, ISO 37001 resmi dipublikasikan sebagai bahasa universal untuk integritas korporasi, memicu gelombang sertifikasi massal di seluruh dunia.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2016: KELAHIRAN ISO 37001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CDC82B-8108-0670-5434-564F93DBC8FD}"/>
              </a:ext>
            </a:extLst>
          </p:cNvPr>
          <p:cNvGrpSpPr/>
          <p:nvPr/>
        </p:nvGrpSpPr>
        <p:grpSpPr>
          <a:xfrm>
            <a:off x="7782509" y="10974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A4357F9-1382-CDE2-06A2-D8809C563854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8FB5210B-5B71-C549-D690-C02CE5D4E1F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C6C1CBE-8AC7-629D-8DD7-C44E530B6454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D89C7C2-60ED-AC20-8565-E8155DCA68A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1212"/>
            <a:ext cx="34861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81212"/>
            <a:ext cx="34861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81212"/>
            <a:ext cx="34861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23925" y="3290887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Integrasi Mulus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23925" y="3509962"/>
            <a:ext cx="2800350" cy="109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Memungkinkan organisasi menggabungkan kebijakan anti-suap ke dalam sistem manajemen mutu yang sudah ada tanpa kerumitan administratif.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95825" y="3290887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 Klausul Standar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695825" y="3509962"/>
            <a:ext cx="2800350" cy="109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Mengikuti urutan klausul yang sama (Context, Leadership, Planning, dll.) yang memudahkan auditor internal melakukan audit terintegrasi.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467725" y="3290887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Continuous Improvement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467725" y="3509962"/>
            <a:ext cx="28003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Mendorong siklus PDCA (Plan-Do-Check-Act) yang dinamis, bukan sekadar dokumentasi statis.</a:t>
            </a:r>
            <a:endParaRPr/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5384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5384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5384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HIGH LEVEL STRUCTURE (HLS)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05910D-0774-4F62-E48E-B454ACDD9277}"/>
              </a:ext>
            </a:extLst>
          </p:cNvPr>
          <p:cNvGrpSpPr/>
          <p:nvPr/>
        </p:nvGrpSpPr>
        <p:grpSpPr>
          <a:xfrm>
            <a:off x="7782508" y="109742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338ABC7-EBB2-8229-4D13-7F2AC59D36F2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EFD97DB-135B-A0F1-3EDA-576BC99C7B8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840D0C79-FAB6-C69A-87BD-23466890B492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B476B30-8436-19BF-AC9D-BD40DCEC920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819150"/>
            <a:ext cx="15525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628650" y="1238250"/>
            <a:ext cx="509063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MENUJU ISO 37001:2025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28650" y="1895475"/>
            <a:ext cx="48482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Dunia 2025-2026 menuntut sistem yang lebih cerdas. Pembaruan standar kini mulai mengintegrasikan: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28650" y="2819400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 Trust: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Mitigasi suap via kripto &amp; AI.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28650" y="3233737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Behavioral Culture: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Fokus pada psikologi kepatuhan.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28650" y="3648075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Supply Chain Ethics: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Pengawasan ketat vendor global.</a:t>
            </a:r>
            <a:endParaRPr/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2857500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3271837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" y="3686175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8E1B545-5C48-E06B-716A-980F76C5E470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F5F12D0-1F4C-73A0-2104-1E01C187811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FE85DB1-4785-1D98-BA5B-98E43F88357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3A94AE90-5831-77E4-692B-C3F81D815520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4712484-A7AD-B108-DBD8-C32EACB031C8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2"/>
          <p:cNvGraphicFramePr/>
          <p:nvPr/>
        </p:nvGraphicFramePr>
        <p:xfrm>
          <a:off x="581025" y="2190750"/>
          <a:ext cx="11029925" cy="332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3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Fitur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37001:2016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37001:2025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Fokus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Pencegahan Administratif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Transformasi Budaya &amp; Perilaku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Pengawasan Digital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Terbatas pada Keuangan Umum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Integrasi AI &amp; Forensic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Supply Chain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Due Diligence Standar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Vendor Risk Monitoring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Pelaporan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Whistleblowing Manual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 Digital Reporting 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581025" y="3514725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316932" y="3514725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402413" y="3514725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81025" y="4176712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316932" y="4176712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402413" y="4176712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81025" y="4838700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316932" y="4838700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402413" y="4838700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81025" y="5500687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316932" y="5500687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402413" y="5500687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EDISI 2016 VS EDISI 2025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8FC22D-8A1C-E793-B944-F392D7F595CE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9EFF52E-A6FE-43EE-9A72-997D9E9B5FBE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E43831E1-9DEC-6D6B-DD74-B3BE0692575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B3B8CAA-6635-6FCA-F88E-FBF3BD7AEC2B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E1E4595-0497-0408-E99A-F3E622AF4FB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1462087"/>
            <a:ext cx="904875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945481" y="2033587"/>
            <a:ext cx="83010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INTEGRITAS ADALAH WARISAN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143125" y="2405062"/>
            <a:ext cx="79057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"Sejarah ISO 37001 adalah bukti bahwa dunia menuntut kejujuran sebagai mata uang utama bisnis."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143125" y="3443287"/>
            <a:ext cx="79057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Memahami evolusi ini membantu kita menyadari bahwa standar ini bukan beban, melainkan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Perisai Keberlanjutan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yang telah teruji selama lebih dari satu dekade.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524500" y="4367212"/>
            <a:ext cx="1143000" cy="762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72739D-FDB8-F589-9117-6AFD3FB5E330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8226E1D-E1DF-A976-A125-24F8A94D01CE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0721F17-13C9-4A8C-3B66-62AE37519AE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3C333482-185E-ABA6-3D63-18A532ACAE60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8E2380DF-5E93-8554-0884-946F5BD1BC55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DE2E1DFF-0B58-BB35-BD6E-AF90DC68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420D01A1-4E3F-EC27-FABF-18D313B60A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9555875F-33E5-D7CC-926C-6FDE7DEDFF4C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6FB5D0-C52A-5325-D524-D586F9386181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648F2-2179-5BA8-231E-467C7CF37332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DFF5D8-A176-EBE2-6152-70FADCBC3A84}"/>
              </a:ext>
            </a:extLst>
          </p:cNvPr>
          <p:cNvGrpSpPr/>
          <p:nvPr/>
        </p:nvGrpSpPr>
        <p:grpSpPr>
          <a:xfrm>
            <a:off x="3956094" y="5314791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23EE57F-C039-4F75-5511-0A9EEFD3605C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3EA45AAF-328B-8D96-20ED-03CA265275D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31C00BCD-02B0-D67A-DF85-AA45041EB687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1994B1DC-060D-C5D0-3C57-D898FD09CB8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5846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B39FD3C-FD09-2780-90B6-7CD53860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5C2BBCBD-0C09-7F9B-6872-0C084BA646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ED695E86-B21D-78FB-A5CB-C26F6D6BFD53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3: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SLANSCAPE REGULASI 2026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7CBD6921-CEE7-6C92-43FB-F72E43950590}"/>
              </a:ext>
            </a:extLst>
          </p:cNvPr>
          <p:cNvSpPr txBox="1"/>
          <p:nvPr/>
        </p:nvSpPr>
        <p:spPr>
          <a:xfrm>
            <a:off x="1171136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inkronisasi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Kepatuhan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dengan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Kerangka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Hulum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Terbaru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BE2C8C-56D8-7089-710C-C1F8E191F5E6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C77DD93-A731-E7F0-FFE6-E1425804990B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0A27F3F-75D3-0C73-D33B-A7F3017DD7EB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A7BA498-6229-E0D7-227A-E86978D7D8EE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3554999-C1A8-CD47-DB3B-81DD5F48532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9143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76300" y="3395662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 FCPA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76300" y="3843337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Menitikberatkan pada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Accounting Provisions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Melarang suap terhadap pejabat publik asing di mana pun perusahaan beroperasi.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8200" y="3395662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UK Bribery Act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8200" y="3843337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Memperkenalkan doktrin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Failure to Prevent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Korporasi bertanggung jawab atas tindakan suap oleh pihak terafiliasi.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0100" y="3395662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OECD Convention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0100" y="3843337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 internasional untuk memerangi suap pejabat asing dalam transaksi bisnis internasional antar negara anggota.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38437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738437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7384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 PILAR UTAMA ANTI-SUAP DUNIA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F03B19-9EC6-B3D6-C887-FA8F23B76804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F4F3ABA-F859-8E4A-9EBC-F603A6F1BF5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336F63DE-1790-527D-4B07-C9B58150ABF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AD8E62D-0191-A57B-2A19-5FB4D3C12E3E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80EC42B-95EF-173F-8975-9A2A40BB9B6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52768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2675"/>
            <a:ext cx="52768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71550" y="2743200"/>
            <a:ext cx="472059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UK Bribery Act 2010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71550" y="3190875"/>
            <a:ext cx="449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Cakupan: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Sangat Luas (Sektor Publik &amp; Swasta).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71550" y="3619500"/>
            <a:ext cx="449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Pelicin: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Melarang keras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Facilitation Payments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71550" y="4048125"/>
            <a:ext cx="4495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Pertahanan: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Adanya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Adequate Procedures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(ISO 37001) membebaskan korporasi dari pidana.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24650" y="2743200"/>
            <a:ext cx="472059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 FCPA (1977)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24650" y="3190875"/>
            <a:ext cx="449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Cakupan: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Sektor Publik Asing (Pejabat Pemerintah).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3619500"/>
            <a:ext cx="4495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Pelicin: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Masih dimungkinkan secara terbatas (pengecualian rutin).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4305300"/>
            <a:ext cx="4495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Pertahanan: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Fokus pada kualitas kontrol internal keuangan dan akurasi pembukuan.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KOMPARASI TEKNIS: UKBA VS FCPA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442404-8EE3-E4F5-CF3E-EABD162EAF84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E5A087E-AFEF-8826-66F0-53CBF8F036F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3882661-8A91-ECB7-DD9B-6DB543107DC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6054E50-C244-7E1C-7C6B-D861AC633946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61B8CA3-E094-05D2-D9F9-2C8B202CC6DF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29125"/>
            <a:ext cx="1102995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2424112"/>
            <a:ext cx="3629025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95350" y="4838700"/>
            <a:ext cx="104775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Dampak: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Korporasi kini wajib memiliki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 Compliance Program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yang teruji untuk menghindari denda kategori VII dan VIII.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781550" y="2228850"/>
            <a:ext cx="68294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Harmonisasi Pidana Nasional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781550" y="2790825"/>
            <a:ext cx="68294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Menyelaraskan delik korupsi dengan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KUHP Nasional Baru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Mempertegas denda kategori maksimal bagi korporasi yang membiarkan suap demi keuntungan operasional.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71525" y="581025"/>
            <a:ext cx="1138142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UU NO. 1 TAHUN 2026 (UPDATE)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1553BA-8DA4-6228-DFE6-B60BF06A9A2A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8D54B0D-151B-EC94-7305-685AD5669A1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8C4C195-8526-9A98-8699-E33A01942AB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AC14C495-1D2A-79E8-384B-8B07E0E73308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25746A61-70C1-5068-BDDE-E55C4E9A835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771525"/>
            <a:ext cx="17335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81025" y="1171575"/>
            <a:ext cx="5190648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MANDATORY REFUSAL PROTOCOL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1025" y="2619375"/>
            <a:ext cx="49434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Berdasarkan Peraturan KPK No. 1 Tahun 2026, setiap gratifikasi wajib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DITOLAK DI TEMPAT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Jika terpaksa diterima, wajib dilaporkan sebagai penolakan pasca-kejadian.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81025" y="3990975"/>
            <a:ext cx="49434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 Manajemen ISO 37001 (Klausul 8.7) kini harus mengadopsi mekanisme pelaporan penolakan gratifikasi secara digital guna menjamin transparansi absolut.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BC92447-3960-A887-7599-0659B16E28C5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064E5F5-EAAB-D71C-98D2-329457E6692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32D0AF0-5078-46EA-3446-528170EE03C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A358E51-73FC-B114-1DB5-F6B2CBC00B42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F2558E3-C3DB-FC2F-115D-85920F7F05F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81025" y="2328862"/>
          <a:ext cx="11029950" cy="30766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6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 Pemberian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Nilai Batas Wajar (PerKPK 1/2026)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Kewajiban Pelaporan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Acara Adat / Pernikahan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Maksimal Rp 1.500.000 / Pemberi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Wajib lapor jika melebihi batas.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Sesama Rekan Kerja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Rp 500.000 / Pemberian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Batas akumulasi Rp 1,5jt / Tahun.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Cinderamata Seminar/Diklat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Sesuai Kewajaran (Berlaku Umum)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Tidak wajib lapor jika terbuka.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Duka Cita / Sakit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Rp 1.000.000 (Non-Tunai)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Lapor jika ada indikasi pamrih.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81025" y="35623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845123" y="35623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839819" y="35623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81025" y="41719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845123" y="41719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839819" y="41719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81025" y="47815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845123" y="47815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839819" y="47815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1025" y="53911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845123" y="53911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839819" y="53911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AMBANG BATAS GRATIFIKASI (UPDATE 2026)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AB5C1D-4E26-97CF-C1BE-A4AD48504FE3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E04983D-5D9E-2360-0924-B2874AF0BED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EAC7D51-C6EA-5505-EB54-660F72D158EB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8098D633-FBB0-2A8C-C86B-F8FBAC7D0126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7FCD326-109F-DE28-AE4C-58B4993EA87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81025" y="1962150"/>
            <a:ext cx="55406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Pertanggungjawaban Pidana Korporasi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81025" y="2409825"/>
            <a:ext cx="5276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Landasan di mana korporasi dapat dijatuhi pidana jika tindak pidana dilakukan oleh personel pengendali atau untuk kepentingan korporasi.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81025" y="3371850"/>
            <a:ext cx="43179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Korporasi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tidak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bersalah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jika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dapat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membuktikan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telah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melakukan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langkah-langkah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pencegahan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581025" y="4057650"/>
            <a:ext cx="43179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37001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diakui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sebagai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alat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bukti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upaya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pencegahan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memadai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194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0527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PERMA NO. 13 TAHUN 2016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3B56F3-7CCA-9901-F995-CEA52CFE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942" y="3161141"/>
            <a:ext cx="6307367" cy="331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20A50E6-2024-13B3-BF1B-F30802B261FE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1A7FB6B-359F-695B-4BAA-C70FF0FB471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5B9D418-6BB2-B45A-0F69-773AD4115BC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1851F23-D494-054E-929C-C30EA38B775C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04764CB-4545-0810-04F5-E80C96C27E23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81025" y="4586287"/>
            <a:ext cx="366045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Sanksi Finansial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1025" y="5033962"/>
            <a:ext cx="3486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Denda pidana kategori maksimal hingga penyitaan aset perusahaan.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352925" y="4586287"/>
            <a:ext cx="366045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Dampak Bisnis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352925" y="5033962"/>
            <a:ext cx="3486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Blacklisting dari tender pemerintah dan pemutusan kontrak oleh investor.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124825" y="4586287"/>
            <a:ext cx="366045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Kehilangan Reputasi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124825" y="5033962"/>
            <a:ext cx="3486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Hancurnya kepercayaan pasar yang membutuhkan waktu dekade untuk pulih.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453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1453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14537"/>
            <a:ext cx="3429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KONSEKUENSI HUKUM BAGI KORPORASI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Shattered Person Images – Browse 45,123 Stock Photos, Vectors, and Video |  Adobe Stock">
            <a:extLst>
              <a:ext uri="{FF2B5EF4-FFF2-40B4-BE49-F238E27FC236}">
                <a16:creationId xmlns:a16="http://schemas.microsoft.com/office/drawing/2014/main" id="{EE7C8F53-72CA-43D9-85EE-36C6BC9F0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661" y="2014537"/>
            <a:ext cx="3486149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CBE451E-1693-2D50-2799-F60024BE7A19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C2AFA01-1BA0-02FB-8B84-449E2E256AA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B10B196-9061-8B03-E4BD-B37F17BC27E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5880E9E-4F9D-783B-0465-DCD1DDABF608}"/>
                  </a:ext>
                </a:extLst>
              </p:cNvPr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28FE9081-92D0-9644-09F5-23DD9CE348E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1F56A1-7F9C-D2A6-2538-B2EB76F7E278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8D747-4D35-0FBA-A2FC-7301991FDADF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5B3CBE-45E9-190E-8057-942F5F5E18E4}"/>
              </a:ext>
            </a:extLst>
          </p:cNvPr>
          <p:cNvGrpSpPr/>
          <p:nvPr/>
        </p:nvGrpSpPr>
        <p:grpSpPr>
          <a:xfrm>
            <a:off x="3956094" y="5314791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235ED47-E312-5A31-D749-D1F3C6E715C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0E8AEC16-F43F-DA99-9F31-DD43E075670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346F336D-F72A-CEA6-4AFE-589DCC985E56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C8B3090A-2ABE-6B32-DF7A-DB0F0B59365E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8A989BC-A531-9F4E-59C2-934A165C5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3751AF8E-F30D-84B8-27E5-42D84A46BE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53870F16-B35D-D352-EE19-72B131696310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4: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LEADERSHIP 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GOVERNANCE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E1046495-D006-F808-F027-468D498D441D}"/>
              </a:ext>
            </a:extLst>
          </p:cNvPr>
          <p:cNvSpPr txBox="1"/>
          <p:nvPr/>
        </p:nvSpPr>
        <p:spPr>
          <a:xfrm>
            <a:off x="1143000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Me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mbangun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Fondasi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TONE OT THE TOP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dalam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Sistem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Manajemen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Anti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Penyuapan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EBB6A5-47A9-3F9C-27F6-4B56450B1BC0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9DCA01E-B044-7F8C-887F-0274850984E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B13A0C9E-723F-728F-0B8D-5EDB7F68FC1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9429E84-089F-AE43-5A0C-BC265F55E260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F6EEC93B-8078-8036-D7F2-F0E5F169DC8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1551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0002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Menjadi Mercusuar Etika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600325"/>
            <a:ext cx="52863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Kepemimpinan dalam ISO 37001 bukan hanya tentang memberikan perintah, melainkan menjadi sumber cahaya integritas bagi seluruh organisasi.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000125" y="3605212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Menetapkan arah strategis anti penyuapan.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4067175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Membangun kepercayaan melalui transparansi.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4529137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Menghilangkan toleransi terhadap penyimpangan.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33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57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577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FILOSOFI KEPEMIMPINAN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2878A9-0A7B-F176-6E9A-65B865F96857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5767C27-2801-4413-0521-4C5B3338907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F3145D96-ACF2-DF28-21BF-DE5BC8AAA81B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C72A1116-4F92-AF90-14AB-980E54CFCB48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D31D7FE-1217-41F0-7724-BF842300BC1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299085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Badan Pengawas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590925"/>
            <a:ext cx="4505325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Memastikan strategi organisasi dan kebijakan anti penyuapan selaras secara makro. Bertanggung jawab atas pengawasan efektivitas SMAP secara berkala melalui laporan Fungsi Kepatuhan.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299085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Manajemen Puncak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3590925"/>
            <a:ext cx="4505325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Menerapkan, mengoperasikan, dan meninjau SMAP secara operasional. Menyediakan sumber daya (SDM, Finansial, Teknologi) dan memastikan "Zero Tolerance" dipahami di setiap level.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TANGGUNG JAWAB PIMPINAN (5.1)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1C9998-C69E-EBF9-D99F-910FF32E7473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8B08EAA-AE7A-9DDD-C374-C11723C2EAF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3AE4B27-FFCC-29DF-18F6-248C2D7F65D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F1D5407-6425-75B1-5B49-844A3611610C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73D2668-8327-38B0-9F34-457F5176741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20002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Komitmen Tertulis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600325"/>
            <a:ext cx="52863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Kebijakan bukan sekadar dokumen formalitas, melainkan manifestasi niat suci organisasi yang wajib:</a:t>
            </a:r>
            <a:endParaRPr/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000125" y="3295650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Melarang penyuapan secara eksplisit.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0125" y="3757612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Mewajibkan kepatuhan terhadap hukum.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4219575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Mendukung pelaporan (Whistleblowing).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00125" y="4681537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Memberikan perlindungan bagi pelapor.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242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861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481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101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KEBIJAKAN ANTI PENYUAPAN (5.2)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09EBC6-7485-4FF2-4CB3-C9200709F16D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B9A3103-7F95-9702-345C-12327630FC4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F3A4F710-C026-5FE1-EFB4-3E514222F8B4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B7C20E2-AAD7-A192-343A-55858FEBB00E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87C48DEB-2BDE-12E3-4331-D5F610E4FB7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762000"/>
            <a:ext cx="52006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FUNGSI KEPATUHAN (FKAP)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052637" y="2143125"/>
            <a:ext cx="20902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Klausul 5.3.2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743200"/>
            <a:ext cx="49530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Manajemen Puncak wajib menunjuk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Fungsi Kepatuhan Anti Penyuapan (FKAP)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memiliki tanggung jawab dan wewenang untuk: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700462"/>
            <a:ext cx="49530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Mengawasi implementasi SMAP.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2. Memberikan panduan kepatuhan kepada personel.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3. Melaporkan kinerja SMAP langsung kepada Manajemen Puncak dan Badan Pengawas.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4929187"/>
            <a:ext cx="3657600" cy="557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D0CCC29-FDF1-9EAC-1904-6554E1E82CD6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7BA6767-7DCE-06C1-1306-D9A400A028DC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EC7B93C-2FB4-2868-9FE1-B993029DC4F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4BEEDF0-5462-0676-5820-14513C424C85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6609703-51B8-C00D-6480-4D8B75D95343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AE29CB-CDEC-E3C0-4C6B-27226E6B1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892" y="1685486"/>
            <a:ext cx="5627678" cy="406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262"/>
            <a:ext cx="3492549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00262"/>
            <a:ext cx="3492549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00262"/>
            <a:ext cx="3492549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66775" y="3128962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Akses Data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6775" y="3729037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Memiliki akses tanpa hambatan ke seluruh informasi, dokumen, dan personel yang diperlukan untuk audit integritas.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529798" y="3128962"/>
            <a:ext cx="3162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Lini Lapor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Langsung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4645074" y="3693866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saluran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komunikasi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langsung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Dewan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Pengawas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melaporkan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risiko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suap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melibatkan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manajemen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puncak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423374" y="3128962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Independensi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423374" y="3729037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Bebas dari pengaruh departemen operasional (seperti Sales atau Procurement) untuk menjaga objektivitas penilaian.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907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907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9078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KEKUATAN &amp; WEWENANG FKAP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99B4DB-6B6F-88E5-E4B5-0CD88C6ECC20}"/>
              </a:ext>
            </a:extLst>
          </p:cNvPr>
          <p:cNvGrpSpPr/>
          <p:nvPr/>
        </p:nvGrpSpPr>
        <p:grpSpPr>
          <a:xfrm>
            <a:off x="7782509" y="109745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DDDA218-A8EE-7D9E-89E4-7B5A24E015BC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1784503-CA7A-1BC9-FDB2-008DF0E2ADA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8810BB5-CF64-A246-ACD9-349AD52AA26C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4A4CE89-9FF4-8201-6F39-D38A4E68C4A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/>
          <p:nvPr/>
        </p:nvGraphicFramePr>
        <p:xfrm>
          <a:off x="1123950" y="2345531"/>
          <a:ext cx="9944100" cy="3119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Aspek Kepemimpinan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Kaitan UU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Kaitan PerKPK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Pengawasan FKAP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Bukti "Langkah Pencegahan" Korporasi.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Verifikasi Laporan Penolakan Suap.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Komitmen Sumber Daya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Mencegah jeratan denda Kategori VII/VIII.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Penyediaan Sistem Digital WBS.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Tone at the Top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Mitigasi Tanggung Jawab Manajerial.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Teladan Protokol Penolakan Gratifikasi.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Tinjauan Manajemen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Evaluasi Efektivitas Pertahanan Hukum.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Audit Rutin Kepatuhan Batas Wajar.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>
            <a:off x="1123950" y="2955131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552825" y="2955131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429500" y="2955131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123950" y="3579018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552825" y="3579018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429500" y="3579018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123950" y="4202906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552825" y="4202906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429500" y="4202906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123950" y="4826793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552825" y="4826793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429500" y="4826793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123950" y="5450681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552825" y="5450681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429500" y="5450681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KEPEMIMPINAN VS REGULASI 2026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D91F66-0029-3D39-24C4-A058A4536C72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8FEDA42-4D55-DCC0-DE4C-D9C99AB276C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F4E8967D-91C6-8929-95E5-CA296E2D6F3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5D0AE1D2-DCDD-C66D-03F1-B32C3E4E233A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AD7C211-E3E8-DF13-57D3-5B58BE5FF81F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20002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Budaya Tanpa Paksaan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2600325"/>
            <a:ext cx="52863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Pimpinan bertugas menggeser paradigma dari "Kepatuhan Karena Aturan" menjadi "Kepatuhan Karena Karakter".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00125" y="3333750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Menghargai kejujuran di atas pencapaian target.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000125" y="3795712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Memberikan rasa aman bagi pelapor pelanggaran.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000125" y="4257675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Mengutamakan etika dalam setiap kolaborasi tim.</a:t>
            </a:r>
            <a:endParaRPr/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23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42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8625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MEMBANGUN BUDAYA INTEGRITAS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9D453C-DA87-5915-AC0D-0D9AAF42FCFA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F9CAD46-49F2-E6EE-6592-63933441684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6B88927-CB29-77E1-C7CD-A1A91FB511F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94115D1-DFB4-D752-8D4B-B78E0DEC42FA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206E188-11EA-1920-466C-24F590DECE89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3C53E8-B72A-470B-6F42-1F6437D01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63" y="2369582"/>
            <a:ext cx="5252709" cy="294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AD7D9309-616B-5510-7352-24DC8F9F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64859B26-758E-8AA1-EEF1-05857E13EF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AB741CBF-0092-4295-5A5C-96A6B5AD3AD1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7D4242-4446-4436-9EE8-B5598811CA84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21E214-F043-ACA2-B6E0-C7E522063B20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A599AF-6D8A-0CE5-4E9B-1F0BC8A00087}"/>
              </a:ext>
            </a:extLst>
          </p:cNvPr>
          <p:cNvGrpSpPr/>
          <p:nvPr/>
        </p:nvGrpSpPr>
        <p:grpSpPr>
          <a:xfrm>
            <a:off x="3984230" y="5314791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19819D2-602B-F40D-CF88-94A1BF2AEED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F2B0CEB7-11E4-407F-DB77-A575EF192BE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EA547780-67F3-FAA1-3DF7-951183C9A29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4740A814-ADBE-D91E-3A66-27A91C3A0D6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68244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43000" y="1833562"/>
            <a:ext cx="11001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RANGKUMAN HARI KE-1: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ABMS IS0 37001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3852862"/>
            <a:ext cx="10477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Memantapkan Pemahaman Sesi 1 - 4: Filosofi, Sejarah, Regulasi, dan Kepemimpinan.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6341AD-8D4A-9DC7-0CF1-F7C30F9BDFB3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B8F0477-FF70-EDBB-6856-7D276ED389C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B042D13-2C3C-7AF1-E51A-3CC2B4948F6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37C241E-5340-DDB9-B236-0A57F26C52D4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2CC5C2A-7410-0D56-BE61-58EC4414990E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528637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47912"/>
            <a:ext cx="52863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2738437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Akar &amp; Definisi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252787"/>
            <a:ext cx="4505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Penyuapan didefinisikan sebagai "keuntungan tak semestinya" dari nilai apapun (finansial/non-finansial) sebagai bujukan bertindak bertentangan dengan kewajiban.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538662"/>
            <a:ext cx="45053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Target: Membangun Budaya Integritas.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2738437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Evolusi Standar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3252787"/>
            <a:ext cx="4505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Berawal dari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BS 10500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(Inggris) sebagai respon UK Bribery Act, berkembang menjadi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 37001:2016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hingga kini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 37001:2025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fokus pada Digital &amp; Budaya.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SESI 1 &amp; 2: FILOSOFI &amp; SEJARAH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9DE084-097B-8DC9-C631-BAE00362E4C7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2725465-D979-893F-0D93-D2A863A8541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B700507-10CE-FFAE-53AD-7B1B202A37E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2BFF7C9-F5D1-4851-E113-C75185306BA8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3FABD7F-EE0F-8499-A00A-64F2F9B48D4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1212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81212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81212"/>
            <a:ext cx="3492549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66775" y="3157537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UU No. 1 / 2026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67188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Harmonisasi Tipikor dengan KUHP Nasional Baru. Mempertegas tanggung jawab korporasi dan sanksi denda kategori VII-VIII.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3157537"/>
            <a:ext cx="304709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PERMA No. 13 / 2016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5074" y="4043362"/>
            <a:ext cx="29019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Korporasi dianggap bersalah jika tidak melakukan langkah pencegahan. ISO 37001 adalah alat bukti "Safe Harbor" yang kuat.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3374" y="3157537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Daya Saing Global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3374" y="3671887"/>
            <a:ext cx="29019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Kepatuhan terhadap standar UK Bribery Act &amp; FCPA AS guna menjaga reputasi dalam transaksi internasional.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717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717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LANSKAP HUKUM INDONESIA 2026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65040B-6AE1-25F2-AC70-E82F50DA675E}"/>
              </a:ext>
            </a:extLst>
          </p:cNvPr>
          <p:cNvGrpSpPr/>
          <p:nvPr/>
        </p:nvGrpSpPr>
        <p:grpSpPr>
          <a:xfrm>
            <a:off x="7768441" y="5638347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5D3D55E-044F-34FD-DF91-D0A965DD63F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BD567592-110A-E407-8C73-E0DE16BAAA5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BB89055-D691-C5AF-3E3D-B986CCF4D091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3F7FBAE7-E1DF-1913-A58B-DBC75527D78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3138487"/>
            <a:ext cx="33147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1.5M</a:t>
            </a:r>
            <a:endParaRPr sz="120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4457700" y="2586037"/>
            <a:ext cx="71628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Batas Wajar PerKPK No. 1 / 2026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457700" y="3148012"/>
            <a:ext cx="7162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Batas maksimal gratifikasi sosial (adat/agama) diperbarui menjadi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Rp 1.500.000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 peristiwa.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7700" y="4024312"/>
            <a:ext cx="71628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PARAMETER GRATIFIKASI BARU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F4801C-C7EC-021D-C815-BD856982E696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22C31F1-D495-9315-D0AF-8D33AD5034E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7A91414-3B8A-04E2-8FF2-84FB8F3D62D4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FCA4C726-1F80-E137-B5C1-B59DACEC02EE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0E9DF4D-86B2-9B91-D9FC-4FD3DE67C548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762000"/>
            <a:ext cx="52006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MANDATORY REFUSAL PROTOCOL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3014662"/>
            <a:ext cx="495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Berdasarkan Peraturan KPK No. 1 Tahun 2026, paradigma bergeser dari "Terima-Lapor" menjadi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"Tolak-Lapor"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729037"/>
            <a:ext cx="4953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Manajemen ISO 37001 (Klausul 8.7) kini wajib mengintegrasikan mekanisme pelaporan penolakan gratifikasi secara digital guna menjamin perlindungan hukum bagi personel.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438864-B0CC-58D4-A80C-B0006A3EDE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4" r="-977"/>
          <a:stretch>
            <a:fillRect/>
          </a:stretch>
        </p:blipFill>
        <p:spPr bwMode="auto">
          <a:xfrm>
            <a:off x="6084284" y="1409700"/>
            <a:ext cx="5559365" cy="402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BA4ACB1-4799-B18D-49D5-D47D06BC1B04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BB2E329-0BE2-9021-74C8-979C4BEBC8CB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56BB2D3-656F-5876-4E79-67FF4AA2118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605D681-03F0-21CD-6578-6C3C5F583EE7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F9CC738-DA47-FE16-0DD6-C48AF41AF193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8"/>
          <p:cNvGraphicFramePr/>
          <p:nvPr/>
        </p:nvGraphicFramePr>
        <p:xfrm>
          <a:off x="1452562" y="2257425"/>
          <a:ext cx="9286875" cy="3190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Aspek Regulasi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Kaitan dengan ISO 37001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Dampak Bagi Korporasi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UU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4.2 (Harapan Stakeholder)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Mitigasi pidana denda kategori VIII.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PerKPK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8.7 (Hadiah &amp; Hospitality)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Standardisasi penolakan suap di tempat.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UK Bribery 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8.1 (Pengendalian Ops)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Diterimanya ekspor ke pasar Inggris.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 FCPA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Klausul 8.3 (Kontrol Finansial)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Akurasi pembukuan &amp; transparansi dana.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Google Shape;150;p18"/>
          <p:cNvSpPr/>
          <p:nvPr/>
        </p:nvSpPr>
        <p:spPr>
          <a:xfrm>
            <a:off x="1452562" y="2881312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652837" y="2881312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919912" y="2881312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452562" y="3519487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652837" y="3519487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919912" y="3519487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452562" y="4157662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652837" y="4157662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919912" y="4157662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452562" y="4795837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652837" y="4795837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919912" y="4795837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452562" y="5434012"/>
            <a:ext cx="2200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652837" y="5434012"/>
            <a:ext cx="3267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919912" y="5434012"/>
            <a:ext cx="3819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UPDATE KEPATUHAN KORPORASI 2026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C12470-BDED-64AD-5547-5FDDCF9D8C02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D1F2ED1-31C7-4D19-FEB8-8B709025F46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312A6457-9262-511C-B7C8-053481358FFB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E09C1F9-DF46-DDE6-C54D-B9B482979309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CF01D83A-7EA8-3D80-4161-6DAE3576CB35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334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1334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1334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7192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97192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971925"/>
            <a:ext cx="3492549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66775" y="22098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Leadership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272415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Komitmen nyata pimpinan puncak (Tone at the Top).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45074" y="22098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Risk Assessment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645074" y="272415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Identifikasi titik rawan korupsi secara berkala.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23374" y="22098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Due Diligence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23374" y="272415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Uji tuntas terhadap rekan bisnis &amp; personel rawan.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66775" y="50482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556260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Pelatihan &amp; sosialisasi kebijakan kepada stakeholder.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645074" y="50482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Monitoring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45074" y="556260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Audit internal &amp; evaluasi efektivitas sistem.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23374" y="504825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23374" y="5562600"/>
            <a:ext cx="2901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Tindakan tegas &amp; perbaikan atas pelanggaran.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5240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524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5240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3624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5074" y="43624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374" y="43624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62000" y="2857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6 PILAR UTAMA ABMS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28575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367836-6371-175F-393A-A727A5EB6876}"/>
              </a:ext>
            </a:extLst>
          </p:cNvPr>
          <p:cNvGrpSpPr/>
          <p:nvPr/>
        </p:nvGrpSpPr>
        <p:grpSpPr>
          <a:xfrm>
            <a:off x="7782510" y="-256017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D408348-9E6D-59C1-6A31-11E2A9F1028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B25AA968-635B-494D-3607-4560E3FDF3D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50E87A19-5CB6-ADDE-BA53-D1DCFE15D0BE}"/>
                  </a:ext>
                </a:extLst>
              </p:cNvPr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720D941-91B9-3ED1-A6ED-4DBD3614F09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571500" y="1947862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Mercusuar Integritas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2462212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Pimpinan bertugas menggeser paradigma dari "Takut Aturan" menjadi "Bangga Berintegritas". Kepatuhan dimulai dari keteladanan tertinggi.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957387"/>
            <a:ext cx="3009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1000125" y="3509962"/>
            <a:ext cx="48577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Menetapkan sasaran anti-suap terukur.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00125" y="3986212"/>
            <a:ext cx="48577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Menjamin independensi Fungsi Kepatuhan.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00125" y="4462462"/>
            <a:ext cx="48577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Mendorong transparansi dalam setiap level.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385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910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KEPEMIMPINAN (SESI 4)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209770-52E7-417A-31E9-9EFFB237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192" y="476250"/>
            <a:ext cx="6050757" cy="60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11B6D32-348E-8FDA-A4F1-57C291AA4D0A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63641F2-032F-9581-F790-E888AF35471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F5BC6E0-6FF7-9D22-5111-B289E7416D2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FB34CB7-1EBF-8B6F-DC05-593F84561E58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38C9C0FA-21D5-9CBD-5E6F-3EB2593F3C9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3112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138362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6334125" y="266700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Pemandu Integritas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334125" y="3181350"/>
            <a:ext cx="5286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FKAP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bertindak sebagai unit independen yang mengawasi operasional sistem sehari-hari.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334125" y="3895725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Wajib memiliki otoritas penuh, kompetensi tinggi, dan akses langsung ke Dewan Pengawas untuk melaporkan penyimpangan.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334125" y="5215011"/>
            <a:ext cx="52863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Prinsip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1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Independen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500" b="1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Objektif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FUNGSI KEPATUHAN (FKAP)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8712A1-8340-9FA9-2B9E-64698C0FE45B}"/>
              </a:ext>
            </a:extLst>
          </p:cNvPr>
          <p:cNvGrpSpPr/>
          <p:nvPr/>
        </p:nvGrpSpPr>
        <p:grpSpPr>
          <a:xfrm>
            <a:off x="101546" y="5314791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00CBA8B-32A5-38DB-5EA3-1E0789AF9A3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72E667E9-667D-CF49-940B-13AFBF37FD2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2929C55-0234-F8BA-AC4B-DD01B5004612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23894AD-8BDD-6197-D80F-E2E9F5A4103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3348</Words>
  <Application>Microsoft Office PowerPoint</Application>
  <PresentationFormat>Widescreen</PresentationFormat>
  <Paragraphs>427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Arial</vt:lpstr>
      <vt:lpstr>Calibri</vt:lpstr>
      <vt:lpstr>Calibri Light</vt:lpstr>
      <vt:lpstr>Inter</vt:lpstr>
      <vt:lpstr>Inter ExtraBold</vt:lpstr>
      <vt:lpstr>Inter Medium</vt:lpstr>
      <vt:lpstr>Inter SemiBold</vt:lpstr>
      <vt:lpstr>Lato</vt:lpstr>
      <vt:lpstr>Montserrat</vt:lpstr>
      <vt:lpstr>Montserrat ExtraBold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Naila Fathiyya</dc:creator>
  <cp:lastModifiedBy>Naila Fathiyya</cp:lastModifiedBy>
  <cp:revision>3</cp:revision>
  <dcterms:created xsi:type="dcterms:W3CDTF">2026-05-08T04:25:04Z</dcterms:created>
  <dcterms:modified xsi:type="dcterms:W3CDTF">2026-05-08T09:05:09Z</dcterms:modified>
</cp:coreProperties>
</file>