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284" r:id="rId3"/>
    <p:sldId id="270" r:id="rId4"/>
    <p:sldId id="271" r:id="rId5"/>
    <p:sldId id="272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69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58" r:id="rId27"/>
    <p:sldId id="259" r:id="rId28"/>
    <p:sldId id="261" r:id="rId29"/>
    <p:sldId id="262" r:id="rId30"/>
    <p:sldId id="263" r:id="rId31"/>
    <p:sldId id="264" r:id="rId32"/>
    <p:sldId id="265" r:id="rId33"/>
    <p:sldId id="267" r:id="rId34"/>
    <p:sldId id="293" r:id="rId35"/>
    <p:sldId id="295" r:id="rId36"/>
    <p:sldId id="296" r:id="rId37"/>
    <p:sldId id="260" r:id="rId38"/>
    <p:sldId id="297" r:id="rId39"/>
    <p:sldId id="298" r:id="rId40"/>
    <p:sldId id="299" r:id="rId41"/>
    <p:sldId id="301" r:id="rId42"/>
    <p:sldId id="30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81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333C1-C80A-407E-BABB-1B2FE91E1A8F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7AA-BC60-4DBE-B714-7459F07D27F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4247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5B9BC69-D425-D467-CC6D-FD0DABBC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41590554-F4A5-A053-149B-3981EB7B4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0E47D303-3855-3564-CB66-16F1E2F5D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42324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FD8BB0E-27F4-3340-DA8E-7073647C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2229095-8A37-372B-5B00-9F61923BA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B352639-78A8-BA49-8674-FEAF0930F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79131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13A0B45-0296-10BF-333D-198DB9AF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ABF3AD9-C34C-9244-897E-5B6027AAC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BBDCDC4-2DC8-0A12-CBC3-26036280B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3763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7F0970A1-5669-2764-E4EA-7264D8A0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AA7E88E1-DFC0-3FF5-0622-2DD793F5B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C303305B-0A5B-50A4-CB7E-D09B70357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99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D9B4-0211-700E-8372-EDF789083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0EF17-C967-CAF5-B5A4-1E049EC7E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EC772-4DA3-653F-B001-4A43FF0C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F34B8-5F6B-9456-E153-410CC941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CBE5A-27F6-377A-EBF6-6621C40C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603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E5AE-D700-3C0F-2F47-E2F61191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7F5D2-F10D-F319-8455-112D2183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6B2-B36C-B6AE-4ECD-412B082B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94CB3-2027-5A27-E6BB-8643944B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3447-A2CC-C98A-1690-6D20E05E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644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C660-2C52-06E1-C632-FEBDA87B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05CD1-4808-12FF-D507-11E55B436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CA38-6A93-D86D-EAF4-86D45785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E96AC-6B97-653F-63F8-E29A1FA4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3171-D57F-21E3-1BDA-93260D95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04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6E622-10EB-DBF8-3781-ACD0DB394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537C0-201B-A4CE-2775-47F6462C1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380B5-5A06-BF5B-D063-D6FAA5EDA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0BC7C-0282-164F-5713-BBE28CE6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7F21A-12C5-1F51-A7A1-98F0121A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D45FD-AFD0-D757-DD0F-C12B054D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616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2DB4-C1A4-F11B-4028-F99C0232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77DFF-59F4-C990-4541-DC16997AD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3493F-AA7F-5EB2-AB5E-872B21C4C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0BE9B-B4C0-C0AA-09C6-EB513ED9F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11387-AD85-D7DA-00A7-78122C7BE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3D8E1-42E6-CB78-2D02-5CEE47BD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35348-7D97-6247-5181-0DDDA71F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64CE0-9FDC-B9A7-5DAB-33E8E02A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9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C353-2211-0E69-D87B-DA13367F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25411-B42F-FFBD-FF3A-D0EE568B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2D517-599C-4DBE-30E6-F651AE03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60D1B-659A-3EA6-3865-99E0D22A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645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FB22D-D153-3DEB-302A-3D2C03A9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F70AE-7449-801C-1897-A566A217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28841-D911-F3E8-6A5F-9309176B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068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009F-16FD-7500-6E85-A961D88C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FDB8-638C-AA90-A0F9-5EF88A84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49ACA-87EE-9209-6C16-D4DBD4F9D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E2B70-662D-28DE-8DEC-88E56327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4025A-BEB0-B386-A421-7A43A333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23A9B-DAC4-C9BE-5B06-435D0DDA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1568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66D5-7864-21EC-06FD-BB46CEF0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EFB31-C88D-EC35-8D33-DAE3E42EF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33D4C-79B4-B37B-939F-401031A3B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383B0-5A92-34A6-D835-50DF1CEA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902AE-EE3E-109A-A3FB-5D068A41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38E7B-E7DE-A813-20D3-3C5A1C18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4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CB1DC-3833-24F5-51E5-AB8F9859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1EF4F-D2B6-8819-DE5A-B416184B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C991-4978-DF68-9A29-DE7159F0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5CB7-5F8D-1F53-5F90-EF55E583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8461-E55B-100E-286E-8A5E61F5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760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B6AD9-677C-C41E-EE9E-61118711A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B8619-6203-81FF-1005-402E74B7A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56542-DDA6-12CB-1F9C-910EC8C8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12E39-3865-9D32-993F-D56A6575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07737-06B1-FE48-F417-B0E966CF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985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51E89-3A67-8008-38B3-898BD259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AABBF-6BDB-1E1B-15BA-318CC8C1D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733C8-23B0-918C-9E4C-7A68DDA60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286E7-EAD1-414B-6C42-E08D693EB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4B51E-084C-08BF-D8F3-DAFCC9131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228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4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34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jpeg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8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1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4416623"/>
            <a:ext cx="18097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1974651"/>
            <a:ext cx="11051381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 MANAJEMEN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ANTI PENYUAPAN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95375" y="3673673"/>
            <a:ext cx="105251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Pelatihan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Intensif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ISO 37001:2025 • 12-12 Mei 2026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095625" y="4535685"/>
            <a:ext cx="2352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IMPLEMENTASI &amp; BUDAYA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1: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FILOSOFI &amp; KONSEP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2579191"/>
            <a:ext cx="10477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Memahami Akar Masalah &amp; Membangun Paradigma Integritas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0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940480" y="2809875"/>
            <a:ext cx="831103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Apa itu Penyuapan?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381625" y="4829175"/>
            <a:ext cx="142875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7900"/>
            <a:ext cx="110490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190625" y="2724150"/>
            <a:ext cx="9953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"Penawaran, janji, pemberian, penerimaan, atau permintaan keuntungan yang tidak semestinya dari nilai apapun (berupa keuangan atau non-keuangan)..."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90625" y="4381500"/>
            <a:ext cx="99536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...sebagai bujukan atau hadiah bagi orang yang bertindak atau menahan diri dari bertindak terkait dengan kinerja tugas orang tersebut.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DEFINISI BERDASARKAN STANDAR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000125" y="2609850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Keuangan (Financial):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Uang tunai, komisi, kickback, pinjaman tanpa bunga, atau diskon khusus.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00125" y="3371850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Non-Keuangan: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Tiket perjalanan, beasiswa, janji promosi, layanan gratis, atau keuntungan politik.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00125" y="4133850"/>
            <a:ext cx="48101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Indirect (Tidak Langsung):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Melalui pihak ketiga, donasi atas nama kerabat, atau bantuan kepada organisasi terkait.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384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4004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16242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SPEKTRUM PENYUAPAN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6975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66975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66975"/>
            <a:ext cx="3492549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914400" y="3562350"/>
            <a:ext cx="29470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Hadiah (Gifts)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14400" y="3838575"/>
            <a:ext cx="28067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Pemberian tanda terima kasih yang seringkali tumpang tindih dengan suap jika diberikan di saat pengambilan keputusan.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92699" y="3562350"/>
            <a:ext cx="29470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Hospitality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92699" y="3838575"/>
            <a:ext cx="28067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Jamuan makan atau hiburan mewah yang melebihi batas kewajaran bisnis normal (reasonable).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470999" y="3562350"/>
            <a:ext cx="29470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Pelicin (Facilitation)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70999" y="3838575"/>
            <a:ext cx="280674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Pembayaran kecil untuk mempercepat proses administratif yang seharusnya rutin terjadi.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05125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905125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905125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MENGELOLA "GREY AREA"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26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7621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6381750" y="2138362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Efek Gunung Es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810375" y="260508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Biaya Langsung: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Denda hukum, denda administratif, dan penyitaan aset.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810375" y="336708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Kehilangan SDM: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Krisis kepercayaan karyawan dan hengkangnya talenta terbaik.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810375" y="412908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Reputasi: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Hancurnya brand image dan hilangnya kepercayaan investor/mitra.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810375" y="489108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Blacklisting: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Larangan mengikuti tender di masa depan.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633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3956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157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49196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BIAYA "TERSEMBUNYI" PENYUAPAN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0" y="19526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2115502" y="2809875"/>
            <a:ext cx="796099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Prinsip Dasar SMAP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2852737" y="4143375"/>
            <a:ext cx="64865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Membangun sistem pertahanan yang proporsional.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381625" y="4829175"/>
            <a:ext cx="142875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52962"/>
            <a:ext cx="110490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2638425"/>
            <a:ext cx="36576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84CC16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28675" y="4910137"/>
            <a:ext cx="10534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Filosofi: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Semakin tinggi risiko di suatu departemen (misal: Procurement), semakin ketat kontrol yang diterapkan.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800600" y="2338387"/>
            <a:ext cx="68199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Pendekatan Berbasis Risiko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800600" y="2900362"/>
            <a:ext cx="68199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 37001 tidak mengharuskan sistem yang sama untuk semua perusahaan. Pengendalian harus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proporsional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terhadap ukuran, kompleksitas, dan tingkat risiko penyuapan yang dihadapi organisasi.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PROPORTIONALITY &amp; RISK-BASED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3200"/>
            <a:ext cx="35559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743200"/>
            <a:ext cx="35559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43200"/>
            <a:ext cx="3556099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0975"/>
            <a:ext cx="35559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990975"/>
            <a:ext cx="35559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990975"/>
            <a:ext cx="3556099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52634" y="3000375"/>
            <a:ext cx="31936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Leadership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28675" y="3314700"/>
            <a:ext cx="304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Komitmen nyata dari pimpinan tertinggi.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499085" y="3000375"/>
            <a:ext cx="31936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Risk Assessment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575125" y="3314700"/>
            <a:ext cx="304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Identifikasi titik rawan secara berkala.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245532" y="3000375"/>
            <a:ext cx="319383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Due Diligence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321575" y="3314700"/>
            <a:ext cx="30417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Uji tuntas terhadap rekan bisnis.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752634" y="4248150"/>
            <a:ext cx="31936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Communication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28675" y="4562475"/>
            <a:ext cx="304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Pelatihan dan sosialisasi kebijakan.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499085" y="4248150"/>
            <a:ext cx="31936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Monitoring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575125" y="4562475"/>
            <a:ext cx="304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Audit internal dan peninjauan sistem.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245532" y="4248150"/>
            <a:ext cx="319383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Action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321575" y="4562475"/>
            <a:ext cx="30417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Tindakan tegas atas pelanggaran.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6 PILAR KEPATUHAN ANTI SUAP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5987"/>
            <a:ext cx="523875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85987"/>
            <a:ext cx="523875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952500" y="2566987"/>
            <a:ext cx="47005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Internal Goal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62750" y="2566987"/>
            <a:ext cx="47005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External Goal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038225" y="3081337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143000" y="3081337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Menanamkan nilai kejujuran sebagai standar kerja harian.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038225" y="3795712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143000" y="3795712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Membangun sistem yang melindungi karyawan dari paksaan suap.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038225" y="4510087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143000" y="4510087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Menghilangkan inefisiensi biaya operasional (hidden costs).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848475" y="3081337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953250" y="3081337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Meningkatkan "Bankability" dan kepercayaan investor.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848475" y="3795712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953250" y="3795712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Memasuki pasar global yang mensyaratkan standar etika tinggi.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848475" y="4510087"/>
            <a:ext cx="1047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953250" y="4510087"/>
            <a:ext cx="42862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Membangun reputasi korporasi sebagai mitra bisnis yang bersih.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MENGAPA KITA MELAKUKAN INI?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2043112"/>
            <a:ext cx="550068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Integrity as a Brand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2319337"/>
            <a:ext cx="5238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Tujuan akhir kita bukan sekadar sertifikat di dinding, melainkan transformasi di mana setiap individu menjadi garda terdepan integritas.</a:t>
            </a:r>
            <a:endParaRPr/>
          </a:p>
        </p:txBody>
      </p:sp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1000125" y="3462337"/>
            <a:ext cx="48101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Tanpa Paksaan: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Karena integritas adalah kebanggaan.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000125" y="422433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Melekat: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Menjadi bagian dari cara kita bekerja setiap hari.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000125" y="4986337"/>
            <a:ext cx="48101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Saling Menjaga: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Budaya di mana kita merasa aman untuk melapor.</a:t>
            </a:r>
            <a:endParaRPr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909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529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149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MEMBANGUN BUDAYA ORGANIK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571500"/>
            <a:ext cx="114300" cy="6000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1F56A1-7F9C-D2A6-2538-B2EB76F7E278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8D747-4D35-0FBA-A2FC-7301991FDADF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2: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SEJARAH &amp; EVOLUSI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171136" y="2579191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Dimulai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Dari Norma Adat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Hingga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Konsesus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Global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52612"/>
            <a:ext cx="522922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914775"/>
            <a:ext cx="5229225" cy="13858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81025" y="2405062"/>
            <a:ext cx="522922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Korupsi sebagai Penghambat Ekonomi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2862262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Selama dekade 2000-an, skandal korupsi korporasi besar (seperti Enron dan Siemens) menunjukkan bahwa penyuapan bukan hanya masalah etika, tapi ancaman stabilitas pasar.</a:t>
            </a:r>
            <a:endParaRPr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862137"/>
            <a:ext cx="52101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42975" y="4200525"/>
            <a:ext cx="45815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Dampak Global: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Penyuapan menambah biaya bisnis hingga 10% dan bertindak sebagai "pajak regresif" terhadap inovasi.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KONTEKS KRISIS &amp; RESPON DUNIA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52612"/>
            <a:ext cx="522922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40781"/>
            <a:ext cx="1590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1862137"/>
            <a:ext cx="52101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6381750" y="2859881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2011: British Standard 10500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381750" y="3078956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Setelah pengundangan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UK Bribery Act 2010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organisasi di Inggris membutuhkan panduan teknis untuk membuktikan kepatuhan.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381750" y="4036218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BS 10500 lahir sebagai standar manajemen anti-penyuapan pertama yang memperkenalkan konsep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Adequate Procedures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untuk membebaskan korporasi dari pidana otomatis.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PONDASI: BS 10500 (INGGRIS)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52675"/>
            <a:ext cx="34861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923925" y="3562350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ISO/PC 278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23925" y="3781425"/>
            <a:ext cx="280035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Pada 2013, Komite Teknis ISO dibentuk dengan keterlibatan ahli kepatuhan dari 37 negara untuk mengglobalkan BS 10500.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695825" y="3562350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OECD Convergence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4695825" y="3781425"/>
            <a:ext cx="280035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Menyelaraskan standar dengan konvensi OECD guna memastikan audit integritas yang sama di lintas benua.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467725" y="3562350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HLS Adoption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467725" y="3781425"/>
            <a:ext cx="280035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Mengadopsi </a:t>
            </a: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Level Structure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agar sistem anti-suap bisa diintegrasikan dengan ISO 9001 atau ISO 14001.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8098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8098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8098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EVOLUSI MENUJU STANDAR GLOBAL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0637" y="194786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4937" y="2062162"/>
            <a:ext cx="35814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381750" y="278606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BSN &amp; Komite Teknis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81750" y="3005137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Indonesia melalui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Badan Standardisasi Nasional (BSN)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berperan aktif sebagai anggota P-Member (Participating Member) dalam perumusan ISO 37001 di tingkat dunia.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81750" y="3962400"/>
            <a:ext cx="52292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Hal ini memastikan bahwa karakteristik penyuapan di pasar berkembang (seperti Indonesia) dipertimbangkan dalam standar internasional tersebut.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PERAN STRATEGIS INDONESIA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43387"/>
            <a:ext cx="1102995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81025" y="2128837"/>
            <a:ext cx="18478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37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962025" y="4821336"/>
            <a:ext cx="102679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Indonesia: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Menjadi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salah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satu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negara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tercepat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mengadopsi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standar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ini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melalui</a:t>
            </a:r>
            <a:r>
              <a:rPr lang="en-US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SK BSN No. 273/KEP/BSN/12/2016.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095625" y="2014537"/>
            <a:ext cx="851535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84CC16"/>
                </a:solidFill>
                <a:latin typeface="Inter"/>
                <a:ea typeface="Inter"/>
                <a:cs typeface="Inter"/>
                <a:sym typeface="Inter"/>
              </a:rPr>
              <a:t>Negara Partisipan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3095625" y="2595562"/>
            <a:ext cx="85153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Pada Oktober 2016, ISO 37001 resmi dipublikasikan sebagai bahasa universal untuk integritas korporasi, memicu gelombang sertifikasi massal di seluruh dunia.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2016: KELAHIRAN ISO 37001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81212"/>
            <a:ext cx="34861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81212"/>
            <a:ext cx="34861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81212"/>
            <a:ext cx="34861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923925" y="3290887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Integrasi Mulus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923925" y="3509962"/>
            <a:ext cx="2800350" cy="109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Memungkinkan organisasi menggabungkan kebijakan anti-suap ke dalam sistem manajemen mutu yang sudah ada tanpa kerumitan administratif.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95825" y="3290887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10 Klausul Standar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4695825" y="3509962"/>
            <a:ext cx="2800350" cy="109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Mengikuti urutan klausul yang sama (Context, Leadership, Planning, dll.) yang memudahkan auditor internal melakukan audit terintegrasi.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467725" y="3290887"/>
            <a:ext cx="29403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Continuous Improvement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467725" y="3509962"/>
            <a:ext cx="28003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Mendorong siklus PDCA (Plan-Do-Check-Act) yang dinamis, bukan sekadar dokumentasi statis.</a:t>
            </a:r>
            <a:endParaRPr/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5384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5384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5384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HIGH LEVEL STRUCTURE (HLS)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819150"/>
            <a:ext cx="15525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628650" y="1238250"/>
            <a:ext cx="509063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MENUJU ISO 37001:2025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28650" y="1895475"/>
            <a:ext cx="48482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Dunia 2025-2026 menuntut sistem yang lebih cerdas. Pembaruan standar kini mulai mengintegrasikan: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28650" y="2819400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Digital Trust: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Mitigasi suap via kripto &amp; AI.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28650" y="3233737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Behavioral Culture: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Fokus pada psikologi kepatuhan.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28650" y="3648075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Supply Chain Ethics: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Pengawasan ketat vendor global.</a:t>
            </a:r>
            <a:endParaRPr/>
          </a:p>
        </p:txBody>
      </p:sp>
      <p:pic>
        <p:nvPicPr>
          <p:cNvPr id="197" name="Google Shape;19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2857500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3271837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" y="3686175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2"/>
          <p:cNvGraphicFramePr/>
          <p:nvPr/>
        </p:nvGraphicFramePr>
        <p:xfrm>
          <a:off x="581025" y="2190750"/>
          <a:ext cx="11029925" cy="332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3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Fitur Utama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 37001:2016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 37001:2025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Fokus Utama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Pencegahan Administratif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Transformasi Budaya &amp; Perilaku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Pengawasan Digital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Terbatas pada Keuangan Umum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Integrasi AI &amp; Forensic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Supply Chain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Due Diligence Standar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Vendor Risk Monitoring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Pelaporan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Whistleblowing Manual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Safe Digital Reporting Platform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7" name="Google Shape;207;p22"/>
          <p:cNvSpPr/>
          <p:nvPr/>
        </p:nvSpPr>
        <p:spPr>
          <a:xfrm>
            <a:off x="581025" y="3514725"/>
            <a:ext cx="2735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316932" y="3514725"/>
            <a:ext cx="4085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7402413" y="3514725"/>
            <a:ext cx="4208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81025" y="4176712"/>
            <a:ext cx="2735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316932" y="4176712"/>
            <a:ext cx="4085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402413" y="4176712"/>
            <a:ext cx="4208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81025" y="4838700"/>
            <a:ext cx="2735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316932" y="4838700"/>
            <a:ext cx="4085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402413" y="4838700"/>
            <a:ext cx="4208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81025" y="5500687"/>
            <a:ext cx="27359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316932" y="5500687"/>
            <a:ext cx="4085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402413" y="5500687"/>
            <a:ext cx="42085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819150" y="581025"/>
            <a:ext cx="11331416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EDISI 2016 VS EDISI 2025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81025" y="581025"/>
            <a:ext cx="114300" cy="4667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1625" y="1462087"/>
            <a:ext cx="904875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945481" y="2033587"/>
            <a:ext cx="83010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INTEGRITAS ADALAH WARISAN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2143125" y="2405062"/>
            <a:ext cx="79057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"Sejarah ISO 37001 adalah bukti bahwa dunia menuntut kejujuran sebagai mata uang utama bisnis."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2143125" y="3443287"/>
            <a:ext cx="79057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Memahami evolusi ini membantu kita menyadari bahwa standar ini bukan beban, melainkan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Perisai Keberlanjutan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yang telah teruji selama lebih dari satu dekade.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524500" y="4367212"/>
            <a:ext cx="1143000" cy="762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DE2E1DFF-0B58-BB35-BD6E-AF90DC68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420D01A1-4E3F-EC27-FABF-18D313B60A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9555875F-33E5-D7CC-926C-6FDE7DEDFF4C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6FB5D0-C52A-5325-D524-D586F9386181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F648F2-2179-5BA8-231E-467C7CF37332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55846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B39FD3C-FD09-2780-90B6-7CD53860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5C2BBCBD-0C09-7F9B-6872-0C084BA646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ED695E86-B21D-78FB-A5CB-C26F6D6BFD53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3: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SLANSCAPE REGULASI 2026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7CBD6921-CEE7-6C92-43FB-F72E43950590}"/>
              </a:ext>
            </a:extLst>
          </p:cNvPr>
          <p:cNvSpPr txBox="1"/>
          <p:nvPr/>
        </p:nvSpPr>
        <p:spPr>
          <a:xfrm>
            <a:off x="1171136" y="2579191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inkronisasi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Kepatuhan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dengan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Kerangka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Hulum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Terbaru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9143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76300" y="3395662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 FCPA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76300" y="3843337"/>
            <a:ext cx="289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Menitikberatkan pada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Accounting Provisions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Melarang suap terhadap pejabat publik asing di mana pun perusahaan beroperasi.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8200" y="3395662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UK Bribery Act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8200" y="3843337"/>
            <a:ext cx="289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Memperkenalkan doktrin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Failure to Prevent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Korporasi bertanggung jawab atas tindakan suap oleh pihak terafiliasi.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0100" y="3395662"/>
            <a:ext cx="304038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OECD Convention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0100" y="3843337"/>
            <a:ext cx="289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Standar internasional untuk memerangi suap pejabat asing dalam transaksi bisnis internasional antar negara anggota.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38437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738437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7384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 PILAR UTAMA ANTI-SUAP DUNIA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2675"/>
            <a:ext cx="52768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52675"/>
            <a:ext cx="52768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71550" y="2743200"/>
            <a:ext cx="472059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UK Bribery Act 2010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71550" y="3190875"/>
            <a:ext cx="449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Cakupan: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Sangat Luas (Sektor Publik &amp; Swasta).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71550" y="3619500"/>
            <a:ext cx="449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Pelicin: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Melarang keras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Facilitation Payments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71550" y="4048125"/>
            <a:ext cx="4495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Pertahanan: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Adanya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Adequate Procedures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(ISO 37001) membebaskan korporasi dari pidana.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24650" y="2743200"/>
            <a:ext cx="472059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 FCPA (1977)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24650" y="3190875"/>
            <a:ext cx="44958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Cakupan: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Sektor Publik Asing (Pejabat Pemerintah).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24650" y="3619500"/>
            <a:ext cx="4495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Pelicin: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Masih dimungkinkan secara terbatas (pengecualian rutin).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24650" y="4305300"/>
            <a:ext cx="4495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Pertahanan: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Fokus pada kualitas kontrol internal keuangan dan akurasi pembukuan.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KOMPARASI TEKNIS: UKBA VS FCPA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29125"/>
            <a:ext cx="1102995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2424112"/>
            <a:ext cx="3629025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95350" y="4838700"/>
            <a:ext cx="104775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Dampak: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Korporasi kini wajib memiliki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Internal Compliance Program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yang teruji untuk menghindari denda kategori VII dan VIII.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781550" y="2228850"/>
            <a:ext cx="68294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4CC16"/>
                </a:solidFill>
                <a:latin typeface="Inter"/>
                <a:ea typeface="Inter"/>
                <a:cs typeface="Inter"/>
                <a:sym typeface="Inter"/>
              </a:rPr>
              <a:t>Harmonisasi Pidana Nasional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781550" y="2790825"/>
            <a:ext cx="68294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Menyelaraskan delik korupsi dengan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KUHP Nasional Baru</a:t>
            </a: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Mempertegas denda kategori maksimal bagi korporasi yang membiarkan suap demi keuntungan operasional.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71525" y="581025"/>
            <a:ext cx="11381422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UU NO. 1 TAHUN 2026 (UPDATE)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771525"/>
            <a:ext cx="17335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81025" y="1171575"/>
            <a:ext cx="5190648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MANDATORY REFUSAL PROTOCOL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81025" y="2619375"/>
            <a:ext cx="49434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Berdasarkan Peraturan KPK No. 1 Tahun 2026, setiap gratifikasi wajib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DITOLAK DI TEMPAT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Jika terpaksa diterima, wajib dilaporkan sebagai penolakan pasca-kejadian.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81025" y="3990975"/>
            <a:ext cx="49434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 Manajemen ISO 37001 (Klausul 8.7) kini harus mengadopsi mekanisme pelaporan penolakan gratifikasi secara digital guna menjamin transparansi absolut.</a:t>
            </a:r>
            <a:endParaRPr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0"/>
          <p:cNvGraphicFramePr/>
          <p:nvPr/>
        </p:nvGraphicFramePr>
        <p:xfrm>
          <a:off x="581025" y="2328862"/>
          <a:ext cx="11029950" cy="30766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26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Kategori Pemberian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Nilai Batas Wajar (PerKPK 1/2026)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Kewajiban Pelaporan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Acara Adat / Pernikahan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Maksimal Rp 1.500.000 / Pemberi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Wajib lapor jika melebihi batas.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Sesama Rekan Kerja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Rp 500.000 / Pemberian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Batas akumulasi Rp 1,5jt / Tahun.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Cinderamata Seminar/Diklat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Sesuai Kewajaran (Berlaku Umum)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Tidak wajib lapor jika terbuka.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Duka Cita / Sakit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Rp 1.000.000 (Non-Tunai)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Lapor jika ada indikasi pamrih.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581025" y="3562350"/>
            <a:ext cx="326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845123" y="3562350"/>
            <a:ext cx="399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839819" y="3562350"/>
            <a:ext cx="3771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81025" y="4171950"/>
            <a:ext cx="326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845123" y="4171950"/>
            <a:ext cx="399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839819" y="4171950"/>
            <a:ext cx="3771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81025" y="4781550"/>
            <a:ext cx="326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845123" y="4781550"/>
            <a:ext cx="399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839819" y="4781550"/>
            <a:ext cx="3771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81025" y="5391150"/>
            <a:ext cx="326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845123" y="5391150"/>
            <a:ext cx="399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839819" y="5391150"/>
            <a:ext cx="37711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AMBANG BATAS GRATIFIKASI (UPDATE 2026)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81025" y="1962150"/>
            <a:ext cx="554069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Pertanggungjawaban Pidana Korporasi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81025" y="2409825"/>
            <a:ext cx="52768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Landasan di mana korporasi dapat dijatuhi pidana jika tindak pidana dilakukan oleh personel pengendali atau untuk kepentingan korporasi.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81025" y="3371850"/>
            <a:ext cx="43179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Korporasi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tidak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bersalah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jika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dapat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membuktikan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telah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melakukan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langkah-langkah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pencegahan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581025" y="4057650"/>
            <a:ext cx="431796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 37001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diakui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sebagai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alat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bukti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upaya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pencegahan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memadai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194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0527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PERMA NO. 13 TAHUN 2016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3B56F3-7CCA-9901-F995-CEA52CFED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942" y="3161141"/>
            <a:ext cx="6307367" cy="331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81025" y="4586287"/>
            <a:ext cx="366045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Sanksi Finansial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81025" y="5033962"/>
            <a:ext cx="34861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Denda pidana kategori maksimal hingga penyitaan aset perusahaan.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352925" y="4586287"/>
            <a:ext cx="366045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Dampak Bisnis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352925" y="5033962"/>
            <a:ext cx="34861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Blacklisting dari tender pemerintah dan pemutusan kontrak oleh investor.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124825" y="4586287"/>
            <a:ext cx="366045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Kehilangan Reputasi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124825" y="5033962"/>
            <a:ext cx="34861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Hancurnya kepercayaan pasar yang membutuhkan waktu dekade untuk pulih.</a:t>
            </a:r>
            <a:endParaRPr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14537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14537"/>
            <a:ext cx="34861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14537"/>
            <a:ext cx="3429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KONSEKUENSI HUKUM BAGI KORPORASI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Shattered Person Images – Browse 45,123 Stock Photos, Vectors, and Video |  Adobe Stock">
            <a:extLst>
              <a:ext uri="{FF2B5EF4-FFF2-40B4-BE49-F238E27FC236}">
                <a16:creationId xmlns:a16="http://schemas.microsoft.com/office/drawing/2014/main" id="{EE7C8F53-72CA-43D9-85EE-36C6BC9F0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661" y="2014537"/>
            <a:ext cx="3486149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1F56A1-7F9C-D2A6-2538-B2EB76F7E278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8D747-4D35-0FBA-A2FC-7301991FDADF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8A989BC-A531-9F4E-59C2-934A165C5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3751AF8E-F30D-84B8-27E5-42D84A46BE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53870F16-B35D-D352-EE19-72B131696310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4: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LEADERSHIP 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&amp; </a:t>
            </a: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GOVERNANCE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E1046495-D006-F808-F027-468D498D441D}"/>
              </a:ext>
            </a:extLst>
          </p:cNvPr>
          <p:cNvSpPr txBox="1"/>
          <p:nvPr/>
        </p:nvSpPr>
        <p:spPr>
          <a:xfrm>
            <a:off x="1143000" y="2579191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Me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mbangun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Fondasi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TONE OT THE TOP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dalam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Sistem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Manajemen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Anti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Penyuapan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1551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200025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Menjadi Mercusuar Etika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600325"/>
            <a:ext cx="528637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Kepemimpinan dalam ISO 37001 bukan hanya tentang memberikan perintah, melainkan menjadi sumber cahaya integritas bagi seluruh organisasi.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000125" y="3605212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Menetapkan arah strategis anti penyuapan.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0125" y="4067175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Membangun kepercayaan melalui transparansi.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4529137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Menghilangkan toleransi terhadap penyimpangan.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337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957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577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FILOSOFI KEPEMIMPINAN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62025" y="299085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Badan Pengawas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3590925"/>
            <a:ext cx="4505325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Memastikan strategi organisasi dan kebijakan anti penyuapan selaras secara makro. Bertanggung jawab atas pengawasan efektivitas SMAP secara berkala melalui laporan Fungsi Kepatuhan.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24650" y="299085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Manajemen Puncak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3590925"/>
            <a:ext cx="4505325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Menerapkan, mengoperasikan, dan meninjau SMAP secara operasional. Menyediakan sumber daya (SDM, Finansial, Teknologi) dan memastikan "Zero Tolerance" dipahami di setiap level.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TANGGUNG JAWAB PIMPINAN (5.1)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200025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Komitmen Tertulis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2600325"/>
            <a:ext cx="52863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Kebijakan bukan sekadar dokumen formalitas, melainkan manifestasi niat suci organisasi yang wajib:</a:t>
            </a:r>
            <a:endParaRPr/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000125" y="3295650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Melarang penyuapan secara eksplisit.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000125" y="3757612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Mewajibkan kepatuhan terhadap hukum.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00125" y="4219575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Mendukung pelaporan (Whistleblowing).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00125" y="4681537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Memberikan perlindungan bagi pelapor.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242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861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481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101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KEBIJAKAN ANTI PENYUAPAN (5.2)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762000"/>
            <a:ext cx="52006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FUNGSI KEPATUHAN (FKAP)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2052637" y="2143125"/>
            <a:ext cx="20902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Klausul 5.3.2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2743200"/>
            <a:ext cx="49530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Manajemen Puncak wajib menunjuk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Fungsi Kepatuhan Anti Penyuapan (FKAP)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yang memiliki tanggung jawab dan wewenang untuk: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3700462"/>
            <a:ext cx="495300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Mengawasi implementasi SMAP.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2. Memberikan panduan kepatuhan kepada personel.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3. Melaporkan kinerja SMAP langsung kepada Manajemen Puncak dan Badan Pengawas.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4929187"/>
            <a:ext cx="3657600" cy="557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0262"/>
            <a:ext cx="3492549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00262"/>
            <a:ext cx="3492549" cy="360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00262"/>
            <a:ext cx="3492549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866775" y="3128962"/>
            <a:ext cx="30470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Akses Data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66775" y="3729037"/>
            <a:ext cx="2901999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Memiliki akses tanpa hambatan ke seluruh informasi, dokumen, dan personel yang diperlukan untuk audit integritas.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529798" y="3128962"/>
            <a:ext cx="31623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Lini Lapor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Langsung</a:t>
            </a:r>
            <a:endParaRPr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4645074" y="3693866"/>
            <a:ext cx="2901999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Memiliki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saluran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komunikasi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langsung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Dewan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Pengawas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melaporkan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risiko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suap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melibatkan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manajemen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puncak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8423374" y="3128962"/>
            <a:ext cx="30470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Independensi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423374" y="3729037"/>
            <a:ext cx="2901999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Bebas dari pengaruh departemen operasional (seperti Sales atau Procurement) untuk menjaga objektivitas penilaian.</a:t>
            </a:r>
            <a:endParaRPr/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907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907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9078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KEKUATAN &amp; WEWENANG FKAP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20"/>
          <p:cNvGraphicFramePr/>
          <p:nvPr/>
        </p:nvGraphicFramePr>
        <p:xfrm>
          <a:off x="1123950" y="2345531"/>
          <a:ext cx="9944100" cy="3119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Aspek Kepemimpinan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Kaitan UU No. 1 /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Kaitan PerKPK No. 1 / 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Pengawasan FKAP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Bukti "Langkah Pencegahan" Korporasi.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Verifikasi Laporan Penolakan Suap.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Komitmen Sumber Daya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Mencegah jeratan denda Kategori VII/VIII.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Penyediaan Sistem Digital WBS.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Tone at the Top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Mitigasi Tanggung Jawab Manajerial.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Teladan Protokol Penolakan Gratifikasi.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Tinjauan Manajemen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Evaluasi Efektivitas Pertahanan Hukum.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Audit Rutin Kepatuhan Batas Wajar.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3" name="Google Shape;183;p20"/>
          <p:cNvSpPr/>
          <p:nvPr/>
        </p:nvSpPr>
        <p:spPr>
          <a:xfrm>
            <a:off x="1123950" y="2955131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552825" y="2955131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429500" y="2955131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123950" y="3579018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552825" y="3579018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429500" y="3579018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123950" y="4202906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552825" y="4202906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429500" y="4202906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123950" y="4826793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552825" y="4826793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429500" y="4826793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123950" y="5450681"/>
            <a:ext cx="2428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552825" y="5450681"/>
            <a:ext cx="387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429500" y="5450681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KEPEMIMPINAN VS REGULASI 2026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200025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Budaya Tanpa Paksaan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2600325"/>
            <a:ext cx="52863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Pimpinan bertugas menggeser paradigma dari "Kepatuhan Karena Aturan" menjadi "Kepatuhan Karena Karakter".</a:t>
            </a:r>
            <a:endParaRPr/>
          </a:p>
        </p:txBody>
      </p:sp>
      <p:pic>
        <p:nvPicPr>
          <p:cNvPr id="218" name="Google Shape;21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20002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1000125" y="3333750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Menghargai kejujuran di atas pencapaian target.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000125" y="3795712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Memberikan rasa aman bagi pelapor pelanggaran.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000125" y="4257675"/>
            <a:ext cx="485775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Mengutamakan etika dalam setiap kolaborasi tim.</a:t>
            </a:r>
            <a:endParaRPr/>
          </a:p>
        </p:txBody>
      </p:sp>
      <p:pic>
        <p:nvPicPr>
          <p:cNvPr id="222" name="Google Shape;22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623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242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8625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MEMBANGUN BUDAYA INTEGRITAS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AD7D9309-616B-5510-7352-24DC8F9F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64859B26-758E-8AA1-EEF1-05857E13EF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AB741CBF-0092-4295-5A5C-96A6B5AD3AD1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7D4242-4446-4436-9EE8-B5598811CA84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21E214-F043-ACA2-B6E0-C7E522063B20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682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1810</Words>
  <Application>Microsoft Office PowerPoint</Application>
  <PresentationFormat>Widescreen</PresentationFormat>
  <Paragraphs>239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Arial</vt:lpstr>
      <vt:lpstr>Calibri</vt:lpstr>
      <vt:lpstr>Calibri Light</vt:lpstr>
      <vt:lpstr>Inter</vt:lpstr>
      <vt:lpstr>Inter ExtraBold</vt:lpstr>
      <vt:lpstr>Inter Medium</vt:lpstr>
      <vt:lpstr>Inter SemiBold</vt:lpstr>
      <vt:lpstr>Lato</vt:lpstr>
      <vt:lpstr>Montserrat ExtraBold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Naila Fathiyya</dc:creator>
  <cp:lastModifiedBy>Naila Fathiyya</cp:lastModifiedBy>
  <cp:revision>1</cp:revision>
  <dcterms:created xsi:type="dcterms:W3CDTF">2026-05-08T04:25:04Z</dcterms:created>
  <dcterms:modified xsi:type="dcterms:W3CDTF">2026-05-08T04:44:37Z</dcterms:modified>
</cp:coreProperties>
</file>